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4827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0F4C81"/>
          </a:solidFill>
          <a:ln w="12700">
            <a:solidFill>
              <a:srgbClr val="0F4C81"/>
            </a:solidFill>
            <a:prstDash val="solid"/>
          </a:ln>
        </p:spPr>
      </p:sp>
      <p:sp>
        <p:nvSpPr>
          <p:cNvPr id="3" name="Shape 1"/>
          <p:cNvSpPr/>
          <p:nvPr/>
        </p:nvSpPr>
        <p:spPr>
          <a:xfrm>
            <a:off x="502920" y="6510528"/>
            <a:ext cx="11201400" cy="0"/>
          </a:xfrm>
          <a:prstGeom prst="line">
            <a:avLst/>
          </a:prstGeom>
          <a:noFill/>
          <a:ln w="12700">
            <a:solidFill>
              <a:srgbClr val="D7E3EF"/>
            </a:solidFill>
            <a:prstDash val="solid"/>
          </a:ln>
        </p:spPr>
      </p:sp>
      <p:sp>
        <p:nvSpPr>
          <p:cNvPr id="4" name="Text 2"/>
          <p:cNvSpPr/>
          <p:nvPr/>
        </p:nvSpPr>
        <p:spPr>
          <a:xfrm>
            <a:off x="502920" y="6547104"/>
            <a:ext cx="5486400" cy="182880"/>
          </a:xfrm>
          <a:prstGeom prst="rect">
            <a:avLst/>
          </a:prstGeom>
          <a:noFill/>
          <a:ln/>
        </p:spPr>
        <p:txBody>
          <a:bodyPr wrap="square" lIns="0" tIns="0" rIns="0" bIns="0" rtlCol="0" anchor="ctr"/>
          <a:lstStyle/>
          <a:p>
            <a:pPr marL="0" indent="0">
              <a:buNone/>
            </a:pPr>
            <a:r>
              <a:rPr lang="en-US" sz="1000" dirty="0">
                <a:solidFill>
                  <a:srgbClr val="5B6B7A"/>
                </a:solidFill>
              </a:rPr>
              <a:t>IoT Health Monitoring &amp; Anomaly Detection</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solidFill>
            <a:prstDash val="solid"/>
          </a:ln>
        </p:spPr>
      </p:sp>
      <p:sp>
        <p:nvSpPr>
          <p:cNvPr id="3" name="Shape 1"/>
          <p:cNvSpPr/>
          <p:nvPr/>
        </p:nvSpPr>
        <p:spPr>
          <a:xfrm>
            <a:off x="0" y="0"/>
            <a:ext cx="4572000" cy="6858000"/>
          </a:xfrm>
          <a:prstGeom prst="rect">
            <a:avLst/>
          </a:prstGeom>
          <a:solidFill>
            <a:srgbClr val="0F4C81"/>
          </a:solidFill>
          <a:ln w="12700">
            <a:solidFill>
              <a:srgbClr val="0F4C81"/>
            </a:solidFill>
            <a:prstDash val="solid"/>
          </a:ln>
        </p:spPr>
      </p:sp>
      <p:sp>
        <p:nvSpPr>
          <p:cNvPr id="4" name="Shape 2"/>
          <p:cNvSpPr/>
          <p:nvPr/>
        </p:nvSpPr>
        <p:spPr>
          <a:xfrm>
            <a:off x="270710" y="352525"/>
            <a:ext cx="4030579" cy="5751095"/>
          </a:xfrm>
          <a:prstGeom prst="roundRect">
            <a:avLst>
              <a:gd name="adj" fmla="val 3590"/>
            </a:avLst>
          </a:prstGeom>
          <a:solidFill>
            <a:srgbClr val="114E85"/>
          </a:solidFill>
          <a:ln w="12700">
            <a:solidFill>
              <a:srgbClr val="2C6DA3"/>
            </a:solidFill>
            <a:prstDash val="solid"/>
          </a:ln>
        </p:spPr>
        <p:txBody>
          <a:bodyPr/>
          <a:lstStyle/>
          <a:p>
            <a:endParaRPr lang="en-IN" dirty="0"/>
          </a:p>
        </p:txBody>
      </p:sp>
      <p:sp>
        <p:nvSpPr>
          <p:cNvPr id="5" name="Text 3"/>
          <p:cNvSpPr/>
          <p:nvPr/>
        </p:nvSpPr>
        <p:spPr>
          <a:xfrm>
            <a:off x="432800" y="1074420"/>
            <a:ext cx="3752409" cy="1874520"/>
          </a:xfrm>
          <a:prstGeom prst="rect">
            <a:avLst/>
          </a:prstGeom>
          <a:noFill/>
          <a:ln/>
        </p:spPr>
        <p:txBody>
          <a:bodyPr wrap="square" lIns="0" tIns="0" rIns="0" bIns="0" rtlCol="0" anchor="ctr"/>
          <a:lstStyle/>
          <a:p>
            <a:pPr marL="0" indent="0" algn="l">
              <a:buNone/>
            </a:pPr>
            <a:r>
              <a:rPr lang="en-US" sz="3000" b="1" dirty="0">
                <a:solidFill>
                  <a:srgbClr val="FFFFFF"/>
                </a:solidFill>
                <a:latin typeface="Aptos Display" pitchFamily="34" charset="0"/>
                <a:ea typeface="Aptos Display" pitchFamily="34" charset="-122"/>
                <a:cs typeface="Aptos Display" pitchFamily="34" charset="-120"/>
              </a:rPr>
              <a:t>IoT Based Health Monitoring And</a:t>
            </a:r>
            <a:endParaRPr lang="en-US" sz="3000" dirty="0"/>
          </a:p>
          <a:p>
            <a:pPr marL="0" indent="0" algn="l">
              <a:buNone/>
            </a:pPr>
            <a:r>
              <a:rPr lang="en-US" sz="3000" b="1" dirty="0">
                <a:solidFill>
                  <a:srgbClr val="FFFFFF"/>
                </a:solidFill>
                <a:latin typeface="Aptos Display" pitchFamily="34" charset="0"/>
                <a:ea typeface="Aptos Display" pitchFamily="34" charset="-122"/>
                <a:cs typeface="Aptos Display" pitchFamily="34" charset="-120"/>
              </a:rPr>
              <a:t>Anomaly Detection</a:t>
            </a:r>
            <a:endParaRPr lang="en-US" sz="3000" dirty="0"/>
          </a:p>
        </p:txBody>
      </p:sp>
      <p:sp>
        <p:nvSpPr>
          <p:cNvPr id="6" name="Text 4"/>
          <p:cNvSpPr/>
          <p:nvPr/>
        </p:nvSpPr>
        <p:spPr>
          <a:xfrm>
            <a:off x="436024" y="2964942"/>
            <a:ext cx="3180909" cy="672084"/>
          </a:xfrm>
          <a:prstGeom prst="rect">
            <a:avLst/>
          </a:prstGeom>
          <a:noFill/>
          <a:ln/>
        </p:spPr>
        <p:txBody>
          <a:bodyPr wrap="square" lIns="0" tIns="0" rIns="0" bIns="0" rtlCol="0" anchor="ctr"/>
          <a:lstStyle/>
          <a:p>
            <a:pPr marL="0" indent="0">
              <a:buNone/>
            </a:pPr>
            <a:r>
              <a:rPr lang="en-US" sz="1500" b="1" dirty="0">
                <a:solidFill>
                  <a:srgbClr val="E3F0FA"/>
                </a:solidFill>
              </a:rPr>
              <a:t>NodeMCU ESP32 • GSM Alerts • Cloud Logging • Streamlit Dashboard</a:t>
            </a:r>
            <a:endParaRPr lang="en-US" sz="1500" b="1" dirty="0"/>
          </a:p>
        </p:txBody>
      </p:sp>
      <p:sp>
        <p:nvSpPr>
          <p:cNvPr id="7" name="Text 5"/>
          <p:cNvSpPr/>
          <p:nvPr/>
        </p:nvSpPr>
        <p:spPr>
          <a:xfrm>
            <a:off x="436024" y="3982212"/>
            <a:ext cx="3063240" cy="1005840"/>
          </a:xfrm>
          <a:prstGeom prst="rect">
            <a:avLst/>
          </a:prstGeom>
          <a:noFill/>
          <a:ln/>
        </p:spPr>
        <p:txBody>
          <a:bodyPr wrap="square" lIns="0" tIns="0" rIns="0" bIns="0" rtlCol="0" anchor="t"/>
          <a:lstStyle/>
          <a:p>
            <a:pPr marL="0" indent="0">
              <a:buNone/>
            </a:pPr>
            <a:r>
              <a:rPr lang="en-US" sz="1500" b="1" dirty="0">
                <a:solidFill>
                  <a:srgbClr val="D7E6F2"/>
                </a:solidFill>
              </a:rPr>
              <a:t>A simple real-time system for monitoring vital signs and detecting unusual readings using an unsupervised ML model</a:t>
            </a:r>
            <a:r>
              <a:rPr lang="en-US" sz="1500" dirty="0">
                <a:solidFill>
                  <a:srgbClr val="D7E6F2"/>
                </a:solidFill>
              </a:rPr>
              <a:t>.</a:t>
            </a:r>
            <a:endParaRPr lang="en-US" sz="1500" dirty="0"/>
          </a:p>
        </p:txBody>
      </p:sp>
      <p:sp>
        <p:nvSpPr>
          <p:cNvPr id="9" name="Text 7"/>
          <p:cNvSpPr/>
          <p:nvPr/>
        </p:nvSpPr>
        <p:spPr>
          <a:xfrm>
            <a:off x="1069848" y="5248656"/>
            <a:ext cx="685800" cy="164592"/>
          </a:xfrm>
          <a:prstGeom prst="rect">
            <a:avLst/>
          </a:prstGeom>
          <a:noFill/>
          <a:ln/>
        </p:spPr>
        <p:txBody>
          <a:bodyPr wrap="square" lIns="0" tIns="0" rIns="0" bIns="0" rtlCol="0" anchor="ctr"/>
          <a:lstStyle/>
          <a:p>
            <a:pPr marL="0" indent="0" algn="ctr">
              <a:buNone/>
            </a:pPr>
            <a:r>
              <a:rPr lang="en-US" sz="1050" b="1" dirty="0">
                <a:solidFill>
                  <a:srgbClr val="0F4C81"/>
                </a:solidFill>
              </a:rPr>
              <a:t>Project</a:t>
            </a:r>
            <a:endParaRPr lang="en-US" sz="1050" dirty="0"/>
          </a:p>
        </p:txBody>
      </p:sp>
      <p:sp>
        <p:nvSpPr>
          <p:cNvPr id="10" name="Text 8"/>
          <p:cNvSpPr/>
          <p:nvPr/>
        </p:nvSpPr>
        <p:spPr>
          <a:xfrm>
            <a:off x="2157984" y="5248656"/>
            <a:ext cx="713232" cy="164592"/>
          </a:xfrm>
          <a:prstGeom prst="rect">
            <a:avLst/>
          </a:prstGeom>
          <a:noFill/>
          <a:ln/>
        </p:spPr>
        <p:txBody>
          <a:bodyPr wrap="square" lIns="0" tIns="0" rIns="0" bIns="0" rtlCol="0" anchor="ctr"/>
          <a:lstStyle/>
          <a:p>
            <a:pPr marL="0" indent="0" algn="ctr">
              <a:buNone/>
            </a:pPr>
            <a:r>
              <a:rPr lang="en-US" sz="1050" b="1" dirty="0">
                <a:solidFill>
                  <a:srgbClr val="0F4C81"/>
                </a:solidFill>
              </a:rPr>
              <a:t>Overview</a:t>
            </a:r>
            <a:endParaRPr lang="en-US" sz="1050" dirty="0"/>
          </a:p>
        </p:txBody>
      </p:sp>
      <p:sp>
        <p:nvSpPr>
          <p:cNvPr id="11" name="Text 9"/>
          <p:cNvSpPr/>
          <p:nvPr/>
        </p:nvSpPr>
        <p:spPr>
          <a:xfrm>
            <a:off x="1417320" y="5669280"/>
            <a:ext cx="731520" cy="164592"/>
          </a:xfrm>
          <a:prstGeom prst="rect">
            <a:avLst/>
          </a:prstGeom>
          <a:noFill/>
          <a:ln/>
        </p:spPr>
        <p:txBody>
          <a:bodyPr wrap="square" lIns="0" tIns="0" rIns="0" bIns="0" rtlCol="0" anchor="ctr"/>
          <a:lstStyle/>
          <a:p>
            <a:pPr marL="0" indent="0" algn="ctr">
              <a:buNone/>
            </a:pPr>
            <a:endParaRPr lang="en-US" sz="1050" dirty="0"/>
          </a:p>
        </p:txBody>
      </p:sp>
      <p:sp>
        <p:nvSpPr>
          <p:cNvPr id="12" name="Text 10"/>
          <p:cNvSpPr/>
          <p:nvPr/>
        </p:nvSpPr>
        <p:spPr>
          <a:xfrm>
            <a:off x="896112" y="5989320"/>
            <a:ext cx="3017520" cy="228600"/>
          </a:xfrm>
          <a:prstGeom prst="rect">
            <a:avLst/>
          </a:prstGeom>
          <a:noFill/>
          <a:ln/>
        </p:spPr>
        <p:txBody>
          <a:bodyPr wrap="square" lIns="0" tIns="0" rIns="0" bIns="0" rtlCol="0" anchor="ctr"/>
          <a:lstStyle/>
          <a:p>
            <a:pPr marL="0" indent="0">
              <a:buNone/>
            </a:pPr>
            <a:endParaRPr lang="en-US" sz="1000" dirty="0"/>
          </a:p>
        </p:txBody>
      </p:sp>
      <p:sp>
        <p:nvSpPr>
          <p:cNvPr id="13" name="Text 11"/>
          <p:cNvSpPr/>
          <p:nvPr/>
        </p:nvSpPr>
        <p:spPr>
          <a:xfrm>
            <a:off x="5074920" y="731520"/>
            <a:ext cx="4206240" cy="274320"/>
          </a:xfrm>
          <a:prstGeom prst="rect">
            <a:avLst/>
          </a:prstGeom>
          <a:noFill/>
          <a:ln/>
        </p:spPr>
        <p:txBody>
          <a:bodyPr wrap="square" lIns="0" tIns="0" rIns="0" bIns="0" rtlCol="0" anchor="ctr"/>
          <a:lstStyle/>
          <a:p>
            <a:pPr marL="0" indent="0">
              <a:buNone/>
            </a:pPr>
            <a:r>
              <a:rPr lang="en-US" sz="2000" b="1" dirty="0">
                <a:solidFill>
                  <a:srgbClr val="123B63"/>
                </a:solidFill>
              </a:rPr>
              <a:t>Project Summary</a:t>
            </a:r>
            <a:endParaRPr lang="en-US" sz="2000" dirty="0"/>
          </a:p>
        </p:txBody>
      </p:sp>
      <p:sp>
        <p:nvSpPr>
          <p:cNvPr id="14" name="Text 12"/>
          <p:cNvSpPr/>
          <p:nvPr/>
        </p:nvSpPr>
        <p:spPr>
          <a:xfrm>
            <a:off x="5074920" y="1097280"/>
            <a:ext cx="6355080" cy="914400"/>
          </a:xfrm>
          <a:prstGeom prst="rect">
            <a:avLst/>
          </a:prstGeom>
          <a:noFill/>
          <a:ln/>
        </p:spPr>
        <p:txBody>
          <a:bodyPr wrap="square" lIns="0" tIns="0" rIns="0" bIns="0" rtlCol="0" anchor="t"/>
          <a:lstStyle/>
          <a:p>
            <a:pPr marL="0" indent="0">
              <a:buNone/>
            </a:pPr>
            <a:r>
              <a:rPr lang="en-US" sz="1600" b="1" dirty="0">
                <a:solidFill>
                  <a:srgbClr val="425B71"/>
                </a:solidFill>
              </a:rPr>
              <a:t>This project captures health readings continuously, sends alerts through GSM every 30 seconds, stores data in a cloud IoT panel, and uses machine learning to flag abnormal patterns in real time</a:t>
            </a:r>
            <a:r>
              <a:rPr lang="en-US" sz="1600" dirty="0">
                <a:solidFill>
                  <a:srgbClr val="425B71"/>
                </a:solidFill>
              </a:rPr>
              <a:t>.</a:t>
            </a:r>
            <a:endParaRPr lang="en-US" sz="1600" dirty="0"/>
          </a:p>
        </p:txBody>
      </p:sp>
      <p:sp>
        <p:nvSpPr>
          <p:cNvPr id="15" name="Shape 13"/>
          <p:cNvSpPr/>
          <p:nvPr/>
        </p:nvSpPr>
        <p:spPr>
          <a:xfrm>
            <a:off x="5074920" y="2240280"/>
            <a:ext cx="1965960" cy="1188720"/>
          </a:xfrm>
          <a:prstGeom prst="roundRect">
            <a:avLst>
              <a:gd name="adj" fmla="val 923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6" name="Shape 14"/>
          <p:cNvSpPr/>
          <p:nvPr/>
        </p:nvSpPr>
        <p:spPr>
          <a:xfrm>
            <a:off x="5074920" y="2240280"/>
            <a:ext cx="1965960" cy="109728"/>
          </a:xfrm>
          <a:prstGeom prst="rect">
            <a:avLst/>
          </a:prstGeom>
          <a:solidFill>
            <a:srgbClr val="2C6DA3"/>
          </a:solidFill>
          <a:ln w="12700">
            <a:solidFill>
              <a:srgbClr val="2C6DA3"/>
            </a:solidFill>
            <a:prstDash val="solid"/>
          </a:ln>
        </p:spPr>
      </p:sp>
      <p:sp>
        <p:nvSpPr>
          <p:cNvPr id="17" name="Text 15"/>
          <p:cNvSpPr/>
          <p:nvPr/>
        </p:nvSpPr>
        <p:spPr>
          <a:xfrm>
            <a:off x="5239512" y="2404872"/>
            <a:ext cx="1636776" cy="256032"/>
          </a:xfrm>
          <a:prstGeom prst="rect">
            <a:avLst/>
          </a:prstGeom>
          <a:noFill/>
          <a:ln/>
        </p:spPr>
        <p:txBody>
          <a:bodyPr wrap="square" lIns="0" tIns="0" rIns="0" bIns="0" rtlCol="0" anchor="ctr"/>
          <a:lstStyle/>
          <a:p>
            <a:pPr marL="0" indent="0">
              <a:buNone/>
            </a:pPr>
            <a:r>
              <a:rPr lang="en-US" b="1" dirty="0">
                <a:solidFill>
                  <a:srgbClr val="123B63"/>
                </a:solidFill>
              </a:rPr>
              <a:t>Sensors</a:t>
            </a:r>
            <a:endParaRPr lang="en-US" b="1" dirty="0"/>
          </a:p>
        </p:txBody>
      </p:sp>
      <p:sp>
        <p:nvSpPr>
          <p:cNvPr id="18" name="Text 16"/>
          <p:cNvSpPr/>
          <p:nvPr/>
        </p:nvSpPr>
        <p:spPr>
          <a:xfrm>
            <a:off x="5239512" y="2715768"/>
            <a:ext cx="1636776" cy="621792"/>
          </a:xfrm>
          <a:prstGeom prst="rect">
            <a:avLst/>
          </a:prstGeom>
          <a:noFill/>
          <a:ln/>
        </p:spPr>
        <p:txBody>
          <a:bodyPr wrap="square" lIns="0" tIns="0" rIns="0" bIns="0" rtlCol="0" anchor="t">
            <a:normAutofit/>
          </a:bodyPr>
          <a:lstStyle/>
          <a:p>
            <a:pPr marL="0" indent="0">
              <a:buNone/>
            </a:pPr>
            <a:r>
              <a:rPr lang="en-US" sz="1250" b="1" dirty="0">
                <a:solidFill>
                  <a:srgbClr val="425B71"/>
                </a:solidFill>
              </a:rPr>
              <a:t>HB + SpO2, body temperature, ambient temperature, humidity</a:t>
            </a:r>
            <a:endParaRPr lang="en-US" sz="1250" b="1" dirty="0"/>
          </a:p>
        </p:txBody>
      </p:sp>
      <p:sp>
        <p:nvSpPr>
          <p:cNvPr id="19" name="Shape 17"/>
          <p:cNvSpPr/>
          <p:nvPr/>
        </p:nvSpPr>
        <p:spPr>
          <a:xfrm>
            <a:off x="7205472" y="2240280"/>
            <a:ext cx="1965960" cy="1188720"/>
          </a:xfrm>
          <a:prstGeom prst="roundRect">
            <a:avLst>
              <a:gd name="adj" fmla="val 923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0" name="Shape 18"/>
          <p:cNvSpPr/>
          <p:nvPr/>
        </p:nvSpPr>
        <p:spPr>
          <a:xfrm>
            <a:off x="7205472" y="2240280"/>
            <a:ext cx="1965960" cy="109728"/>
          </a:xfrm>
          <a:prstGeom prst="rect">
            <a:avLst/>
          </a:prstGeom>
          <a:solidFill>
            <a:srgbClr val="1D7A8C"/>
          </a:solidFill>
          <a:ln w="12700">
            <a:solidFill>
              <a:srgbClr val="1D7A8C"/>
            </a:solidFill>
            <a:prstDash val="solid"/>
          </a:ln>
        </p:spPr>
      </p:sp>
      <p:sp>
        <p:nvSpPr>
          <p:cNvPr id="21" name="Text 19"/>
          <p:cNvSpPr/>
          <p:nvPr/>
        </p:nvSpPr>
        <p:spPr>
          <a:xfrm>
            <a:off x="7370064" y="2404872"/>
            <a:ext cx="1636776" cy="256032"/>
          </a:xfrm>
          <a:prstGeom prst="rect">
            <a:avLst/>
          </a:prstGeom>
          <a:noFill/>
          <a:ln/>
        </p:spPr>
        <p:txBody>
          <a:bodyPr wrap="square" lIns="0" tIns="0" rIns="0" bIns="0" rtlCol="0" anchor="ctr"/>
          <a:lstStyle/>
          <a:p>
            <a:pPr marL="0" indent="0">
              <a:buNone/>
            </a:pPr>
            <a:r>
              <a:rPr lang="en-US" b="1" dirty="0">
                <a:solidFill>
                  <a:srgbClr val="123B63"/>
                </a:solidFill>
              </a:rPr>
              <a:t>Controller</a:t>
            </a:r>
            <a:endParaRPr lang="en-US" dirty="0"/>
          </a:p>
        </p:txBody>
      </p:sp>
      <p:sp>
        <p:nvSpPr>
          <p:cNvPr id="22" name="Text 20"/>
          <p:cNvSpPr/>
          <p:nvPr/>
        </p:nvSpPr>
        <p:spPr>
          <a:xfrm>
            <a:off x="7370064" y="2715768"/>
            <a:ext cx="1636776" cy="621792"/>
          </a:xfrm>
          <a:prstGeom prst="rect">
            <a:avLst/>
          </a:prstGeom>
          <a:noFill/>
          <a:ln/>
        </p:spPr>
        <p:txBody>
          <a:bodyPr wrap="square" lIns="0" tIns="0" rIns="0" bIns="0" rtlCol="0" anchor="t">
            <a:normAutofit/>
          </a:bodyPr>
          <a:lstStyle/>
          <a:p>
            <a:pPr marL="0" indent="0">
              <a:buNone/>
            </a:pPr>
            <a:r>
              <a:rPr lang="en-US" sz="1250" b="1" dirty="0">
                <a:solidFill>
                  <a:srgbClr val="425B71"/>
                </a:solidFill>
              </a:rPr>
              <a:t>NodeMCU ESP32 processes and transmits readings</a:t>
            </a:r>
            <a:endParaRPr lang="en-US" sz="1250" b="1" dirty="0"/>
          </a:p>
        </p:txBody>
      </p:sp>
      <p:sp>
        <p:nvSpPr>
          <p:cNvPr id="23" name="Shape 21"/>
          <p:cNvSpPr/>
          <p:nvPr/>
        </p:nvSpPr>
        <p:spPr>
          <a:xfrm>
            <a:off x="9336024" y="2240280"/>
            <a:ext cx="1965960" cy="1188720"/>
          </a:xfrm>
          <a:prstGeom prst="roundRect">
            <a:avLst>
              <a:gd name="adj" fmla="val 923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4" name="Shape 22"/>
          <p:cNvSpPr/>
          <p:nvPr/>
        </p:nvSpPr>
        <p:spPr>
          <a:xfrm>
            <a:off x="9336024" y="2240280"/>
            <a:ext cx="1965960" cy="109728"/>
          </a:xfrm>
          <a:prstGeom prst="rect">
            <a:avLst/>
          </a:prstGeom>
          <a:solidFill>
            <a:srgbClr val="2A9D8F"/>
          </a:solidFill>
          <a:ln w="12700">
            <a:solidFill>
              <a:srgbClr val="2A9D8F"/>
            </a:solidFill>
            <a:prstDash val="solid"/>
          </a:ln>
        </p:spPr>
      </p:sp>
      <p:sp>
        <p:nvSpPr>
          <p:cNvPr id="25" name="Text 23"/>
          <p:cNvSpPr/>
          <p:nvPr/>
        </p:nvSpPr>
        <p:spPr>
          <a:xfrm>
            <a:off x="9500616" y="2404872"/>
            <a:ext cx="1636776" cy="256032"/>
          </a:xfrm>
          <a:prstGeom prst="rect">
            <a:avLst/>
          </a:prstGeom>
          <a:noFill/>
          <a:ln/>
        </p:spPr>
        <p:txBody>
          <a:bodyPr wrap="square" lIns="0" tIns="0" rIns="0" bIns="0" rtlCol="0" anchor="ctr"/>
          <a:lstStyle/>
          <a:p>
            <a:pPr marL="0" indent="0">
              <a:buNone/>
            </a:pPr>
            <a:r>
              <a:rPr lang="en-US" b="1" dirty="0">
                <a:solidFill>
                  <a:srgbClr val="123B63"/>
                </a:solidFill>
              </a:rPr>
              <a:t>Alerts</a:t>
            </a:r>
            <a:endParaRPr lang="en-US" dirty="0"/>
          </a:p>
        </p:txBody>
      </p:sp>
      <p:sp>
        <p:nvSpPr>
          <p:cNvPr id="26" name="Text 24"/>
          <p:cNvSpPr/>
          <p:nvPr/>
        </p:nvSpPr>
        <p:spPr>
          <a:xfrm>
            <a:off x="9500616" y="2715768"/>
            <a:ext cx="1636776" cy="621792"/>
          </a:xfrm>
          <a:prstGeom prst="rect">
            <a:avLst/>
          </a:prstGeom>
          <a:noFill/>
          <a:ln/>
        </p:spPr>
        <p:txBody>
          <a:bodyPr wrap="square" lIns="0" tIns="0" rIns="0" bIns="0" rtlCol="0" anchor="t">
            <a:normAutofit/>
          </a:bodyPr>
          <a:lstStyle/>
          <a:p>
            <a:pPr marL="0" indent="0">
              <a:buNone/>
            </a:pPr>
            <a:r>
              <a:rPr lang="en-US" sz="1250" b="1" dirty="0">
                <a:solidFill>
                  <a:srgbClr val="425B71"/>
                </a:solidFill>
              </a:rPr>
              <a:t>GSM module, buzzer, and LCD for immediate feedback</a:t>
            </a:r>
            <a:endParaRPr lang="en-US" sz="1250" b="1" dirty="0"/>
          </a:p>
        </p:txBody>
      </p:sp>
      <p:sp>
        <p:nvSpPr>
          <p:cNvPr id="27" name="Shape 25"/>
          <p:cNvSpPr/>
          <p:nvPr/>
        </p:nvSpPr>
        <p:spPr>
          <a:xfrm>
            <a:off x="5074920" y="3703320"/>
            <a:ext cx="6217920" cy="1417320"/>
          </a:xfrm>
          <a:prstGeom prst="roundRect">
            <a:avLst>
              <a:gd name="adj" fmla="val 7742"/>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8" name="Shape 26"/>
          <p:cNvSpPr/>
          <p:nvPr/>
        </p:nvSpPr>
        <p:spPr>
          <a:xfrm>
            <a:off x="5074920" y="3703320"/>
            <a:ext cx="6217920" cy="109728"/>
          </a:xfrm>
          <a:prstGeom prst="rect">
            <a:avLst/>
          </a:prstGeom>
          <a:solidFill>
            <a:srgbClr val="0F4C81"/>
          </a:solidFill>
          <a:ln w="12700">
            <a:solidFill>
              <a:srgbClr val="0F4C81"/>
            </a:solidFill>
            <a:prstDash val="solid"/>
          </a:ln>
        </p:spPr>
      </p:sp>
      <p:sp>
        <p:nvSpPr>
          <p:cNvPr id="29" name="Text 27"/>
          <p:cNvSpPr/>
          <p:nvPr/>
        </p:nvSpPr>
        <p:spPr>
          <a:xfrm>
            <a:off x="5239512" y="3867912"/>
            <a:ext cx="5888736" cy="256032"/>
          </a:xfrm>
          <a:prstGeom prst="rect">
            <a:avLst/>
          </a:prstGeom>
          <a:noFill/>
          <a:ln/>
        </p:spPr>
        <p:txBody>
          <a:bodyPr wrap="square" lIns="0" tIns="0" rIns="0" bIns="0" rtlCol="0" anchor="ctr"/>
          <a:lstStyle/>
          <a:p>
            <a:pPr marL="0" indent="0">
              <a:buNone/>
            </a:pPr>
            <a:r>
              <a:rPr lang="en-US" b="1" dirty="0">
                <a:solidFill>
                  <a:srgbClr val="123B63"/>
                </a:solidFill>
              </a:rPr>
              <a:t>Machine Learning</a:t>
            </a:r>
            <a:endParaRPr lang="en-US" dirty="0"/>
          </a:p>
        </p:txBody>
      </p:sp>
      <p:sp>
        <p:nvSpPr>
          <p:cNvPr id="30" name="Text 28"/>
          <p:cNvSpPr/>
          <p:nvPr/>
        </p:nvSpPr>
        <p:spPr>
          <a:xfrm>
            <a:off x="5239512" y="4178808"/>
            <a:ext cx="5888736" cy="850392"/>
          </a:xfrm>
          <a:prstGeom prst="rect">
            <a:avLst/>
          </a:prstGeom>
          <a:noFill/>
          <a:ln/>
        </p:spPr>
        <p:txBody>
          <a:bodyPr wrap="square" lIns="0" tIns="0" rIns="0" bIns="0" rtlCol="0" anchor="t">
            <a:normAutofit/>
          </a:bodyPr>
          <a:lstStyle/>
          <a:p>
            <a:pPr marL="0" indent="0">
              <a:buNone/>
            </a:pPr>
            <a:r>
              <a:rPr lang="en-US" sz="1300" b="1" dirty="0">
                <a:solidFill>
                  <a:srgbClr val="425B71"/>
                </a:solidFill>
              </a:rPr>
              <a:t>Downloaded CSV data is cleaned, scaled, and passed to an unsupervised Isolation Forest model. The dashboard then labels each reading as Normal or Abnormal.</a:t>
            </a:r>
            <a:endParaRPr lang="en-US" sz="1300" b="1" dirty="0"/>
          </a:p>
        </p:txBody>
      </p:sp>
      <p:sp>
        <p:nvSpPr>
          <p:cNvPr id="31" name="Shape 29"/>
          <p:cNvSpPr/>
          <p:nvPr/>
        </p:nvSpPr>
        <p:spPr>
          <a:xfrm>
            <a:off x="5074920" y="5349240"/>
            <a:ext cx="6217920" cy="731520"/>
          </a:xfrm>
          <a:prstGeom prst="roundRect">
            <a:avLst>
              <a:gd name="adj" fmla="val 15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txBody>
          <a:bodyPr/>
          <a:lstStyle/>
          <a:p>
            <a:endParaRPr lang="en-IN" dirty="0"/>
          </a:p>
        </p:txBody>
      </p:sp>
      <p:sp>
        <p:nvSpPr>
          <p:cNvPr id="32" name="Shape 30"/>
          <p:cNvSpPr/>
          <p:nvPr/>
        </p:nvSpPr>
        <p:spPr>
          <a:xfrm>
            <a:off x="5074920" y="5349240"/>
            <a:ext cx="6217920" cy="109728"/>
          </a:xfrm>
          <a:prstGeom prst="rect">
            <a:avLst/>
          </a:prstGeom>
          <a:solidFill>
            <a:srgbClr val="5D8AA8"/>
          </a:solidFill>
          <a:ln w="12700">
            <a:solidFill>
              <a:srgbClr val="5D8AA8"/>
            </a:solidFill>
            <a:prstDash val="solid"/>
          </a:ln>
        </p:spPr>
      </p:sp>
      <p:sp>
        <p:nvSpPr>
          <p:cNvPr id="33" name="Text 31"/>
          <p:cNvSpPr/>
          <p:nvPr/>
        </p:nvSpPr>
        <p:spPr>
          <a:xfrm>
            <a:off x="5239512" y="5513832"/>
            <a:ext cx="5888736" cy="256032"/>
          </a:xfrm>
          <a:prstGeom prst="rect">
            <a:avLst/>
          </a:prstGeom>
          <a:noFill/>
          <a:ln/>
        </p:spPr>
        <p:txBody>
          <a:bodyPr wrap="square" lIns="0" tIns="0" rIns="0" bIns="0" rtlCol="0" anchor="ctr"/>
          <a:lstStyle/>
          <a:p>
            <a:pPr marL="0" indent="0">
              <a:buNone/>
            </a:pPr>
            <a:r>
              <a:rPr lang="en-US" b="1" dirty="0">
                <a:solidFill>
                  <a:srgbClr val="123B63"/>
                </a:solidFill>
              </a:rPr>
              <a:t>Final Output</a:t>
            </a:r>
            <a:endParaRPr lang="en-US" dirty="0"/>
          </a:p>
        </p:txBody>
      </p:sp>
      <p:sp>
        <p:nvSpPr>
          <p:cNvPr id="34" name="Text 32"/>
          <p:cNvSpPr/>
          <p:nvPr/>
        </p:nvSpPr>
        <p:spPr>
          <a:xfrm>
            <a:off x="5239512" y="5824728"/>
            <a:ext cx="5888736" cy="164592"/>
          </a:xfrm>
          <a:prstGeom prst="rect">
            <a:avLst/>
          </a:prstGeom>
          <a:noFill/>
          <a:ln/>
        </p:spPr>
        <p:txBody>
          <a:bodyPr wrap="square" lIns="0" tIns="0" rIns="0" bIns="0" rtlCol="0" anchor="t">
            <a:noAutofit/>
          </a:bodyPr>
          <a:lstStyle/>
          <a:p>
            <a:pPr marL="0" indent="0">
              <a:buNone/>
            </a:pPr>
            <a:r>
              <a:rPr lang="en-US" sz="1300" b="1" dirty="0">
                <a:solidFill>
                  <a:srgbClr val="425B71"/>
                </a:solidFill>
              </a:rPr>
              <a:t>Live dashboard for monitoring, anomaly detection, and analysis</a:t>
            </a:r>
            <a:endParaRPr lang="en-US" sz="13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000" b="1" dirty="0">
                <a:solidFill>
                  <a:srgbClr val="123B63"/>
                </a:solidFill>
                <a:latin typeface="Aptos Display" pitchFamily="34" charset="0"/>
                <a:ea typeface="Aptos Display" pitchFamily="34" charset="-122"/>
                <a:cs typeface="Aptos Display" pitchFamily="34" charset="-120"/>
              </a:rPr>
              <a:t>Problem Statement and Objective</a:t>
            </a:r>
            <a:endParaRPr lang="en-US" sz="30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sz="1500" dirty="0">
                <a:solidFill>
                  <a:srgbClr val="4D647A"/>
                </a:solidFill>
              </a:rPr>
              <a:t>Why this project is useful and what it tries to solve</a:t>
            </a:r>
            <a:endParaRPr lang="en-US" sz="1500" dirty="0"/>
          </a:p>
        </p:txBody>
      </p:sp>
      <p:sp>
        <p:nvSpPr>
          <p:cNvPr id="4" name="Shape 2"/>
          <p:cNvSpPr/>
          <p:nvPr/>
        </p:nvSpPr>
        <p:spPr>
          <a:xfrm>
            <a:off x="548640" y="1170432"/>
            <a:ext cx="11064240" cy="0"/>
          </a:xfrm>
          <a:prstGeom prst="line">
            <a:avLst/>
          </a:prstGeom>
          <a:noFill/>
          <a:ln w="12700">
            <a:solidFill>
              <a:srgbClr val="D6E1EA"/>
            </a:solidFill>
            <a:prstDash val="solid"/>
          </a:ln>
        </p:spPr>
        <p:txBody>
          <a:bodyPr/>
          <a:lstStyle/>
          <a:p>
            <a:endParaRPr lang="en-IN" dirty="0"/>
          </a:p>
        </p:txBody>
      </p:sp>
      <p:sp>
        <p:nvSpPr>
          <p:cNvPr id="5" name="Shape 3"/>
          <p:cNvSpPr/>
          <p:nvPr/>
        </p:nvSpPr>
        <p:spPr>
          <a:xfrm>
            <a:off x="640080" y="1554480"/>
            <a:ext cx="3566160" cy="4297680"/>
          </a:xfrm>
          <a:prstGeom prst="roundRect">
            <a:avLst>
              <a:gd name="adj" fmla="val 3077"/>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6" name="Shape 4"/>
          <p:cNvSpPr/>
          <p:nvPr/>
        </p:nvSpPr>
        <p:spPr>
          <a:xfrm>
            <a:off x="640080" y="1554480"/>
            <a:ext cx="3566160" cy="109728"/>
          </a:xfrm>
          <a:prstGeom prst="rect">
            <a:avLst/>
          </a:prstGeom>
          <a:solidFill>
            <a:srgbClr val="D9534F"/>
          </a:solidFill>
          <a:ln w="12700">
            <a:solidFill>
              <a:srgbClr val="D9534F"/>
            </a:solidFill>
            <a:prstDash val="solid"/>
          </a:ln>
        </p:spPr>
      </p:sp>
      <p:sp>
        <p:nvSpPr>
          <p:cNvPr id="7" name="Text 5"/>
          <p:cNvSpPr/>
          <p:nvPr/>
        </p:nvSpPr>
        <p:spPr>
          <a:xfrm>
            <a:off x="804672" y="1719072"/>
            <a:ext cx="3236976" cy="256032"/>
          </a:xfrm>
          <a:prstGeom prst="rect">
            <a:avLst/>
          </a:prstGeom>
          <a:noFill/>
          <a:ln/>
        </p:spPr>
        <p:txBody>
          <a:bodyPr wrap="square" lIns="0" tIns="0" rIns="0" bIns="0" rtlCol="0" anchor="ctr"/>
          <a:lstStyle/>
          <a:p>
            <a:pPr marL="0" indent="0">
              <a:buNone/>
            </a:pPr>
            <a:r>
              <a:rPr lang="en-US" sz="2400" b="1" dirty="0">
                <a:solidFill>
                  <a:srgbClr val="123B63"/>
                </a:solidFill>
              </a:rPr>
              <a:t>Problem</a:t>
            </a:r>
            <a:endParaRPr lang="en-US" sz="2400" dirty="0"/>
          </a:p>
        </p:txBody>
      </p:sp>
      <p:sp>
        <p:nvSpPr>
          <p:cNvPr id="8" name="Text 6"/>
          <p:cNvSpPr/>
          <p:nvPr/>
        </p:nvSpPr>
        <p:spPr>
          <a:xfrm>
            <a:off x="804672" y="2157984"/>
            <a:ext cx="3236976" cy="3602736"/>
          </a:xfrm>
          <a:prstGeom prst="rect">
            <a:avLst/>
          </a:prstGeom>
          <a:noFill/>
          <a:ln/>
        </p:spPr>
        <p:txBody>
          <a:bodyPr wrap="square" lIns="0" tIns="0" rIns="0" bIns="0" rtlCol="0" anchor="t">
            <a:normAutofit/>
          </a:bodyPr>
          <a:lstStyle/>
          <a:p>
            <a:pPr marL="0" indent="0">
              <a:buNone/>
            </a:pPr>
            <a:r>
              <a:rPr lang="en-US" dirty="0">
                <a:solidFill>
                  <a:srgbClr val="425B71"/>
                </a:solidFill>
              </a:rPr>
              <a:t>Health readings should be watched continuously, but manual monitoring is slow and cannot easily detect unusual patterns. In many cases, an early warning is more useful than waiting for a serious issue.</a:t>
            </a:r>
            <a:endParaRPr lang="en-US" dirty="0"/>
          </a:p>
        </p:txBody>
      </p:sp>
      <p:sp>
        <p:nvSpPr>
          <p:cNvPr id="9" name="Shape 7"/>
          <p:cNvSpPr/>
          <p:nvPr/>
        </p:nvSpPr>
        <p:spPr>
          <a:xfrm>
            <a:off x="4315968" y="1554480"/>
            <a:ext cx="3566160" cy="4297680"/>
          </a:xfrm>
          <a:prstGeom prst="roundRect">
            <a:avLst>
              <a:gd name="adj" fmla="val 3077"/>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0" name="Shape 8"/>
          <p:cNvSpPr/>
          <p:nvPr/>
        </p:nvSpPr>
        <p:spPr>
          <a:xfrm>
            <a:off x="4315968" y="1554480"/>
            <a:ext cx="3566160" cy="109728"/>
          </a:xfrm>
          <a:prstGeom prst="rect">
            <a:avLst/>
          </a:prstGeom>
          <a:solidFill>
            <a:srgbClr val="0F4C81"/>
          </a:solidFill>
          <a:ln w="12700">
            <a:solidFill>
              <a:srgbClr val="0F4C81"/>
            </a:solidFill>
            <a:prstDash val="solid"/>
          </a:ln>
        </p:spPr>
      </p:sp>
      <p:sp>
        <p:nvSpPr>
          <p:cNvPr id="11" name="Text 9"/>
          <p:cNvSpPr/>
          <p:nvPr/>
        </p:nvSpPr>
        <p:spPr>
          <a:xfrm>
            <a:off x="4480560" y="1719072"/>
            <a:ext cx="3236976" cy="256032"/>
          </a:xfrm>
          <a:prstGeom prst="rect">
            <a:avLst/>
          </a:prstGeom>
          <a:noFill/>
          <a:ln/>
        </p:spPr>
        <p:txBody>
          <a:bodyPr wrap="square" lIns="0" tIns="0" rIns="0" bIns="0" rtlCol="0" anchor="ctr"/>
          <a:lstStyle/>
          <a:p>
            <a:pPr marL="0" indent="0">
              <a:buNone/>
            </a:pPr>
            <a:r>
              <a:rPr lang="en-US" sz="2400" b="1" dirty="0">
                <a:solidFill>
                  <a:srgbClr val="123B63"/>
                </a:solidFill>
              </a:rPr>
              <a:t>Objective</a:t>
            </a:r>
            <a:endParaRPr lang="en-US" sz="2400" dirty="0"/>
          </a:p>
        </p:txBody>
      </p:sp>
      <p:sp>
        <p:nvSpPr>
          <p:cNvPr id="12" name="Text 10"/>
          <p:cNvSpPr/>
          <p:nvPr/>
        </p:nvSpPr>
        <p:spPr>
          <a:xfrm>
            <a:off x="4480560" y="2157984"/>
            <a:ext cx="3236976" cy="3602736"/>
          </a:xfrm>
          <a:prstGeom prst="rect">
            <a:avLst/>
          </a:prstGeom>
          <a:noFill/>
          <a:ln/>
        </p:spPr>
        <p:txBody>
          <a:bodyPr wrap="square" lIns="0" tIns="0" rIns="0" bIns="0" rtlCol="0" anchor="t">
            <a:normAutofit/>
          </a:bodyPr>
          <a:lstStyle/>
          <a:p>
            <a:pPr marL="0" indent="0">
              <a:buNone/>
            </a:pPr>
            <a:r>
              <a:rPr lang="en-US" dirty="0">
                <a:solidFill>
                  <a:srgbClr val="425B71"/>
                </a:solidFill>
              </a:rPr>
              <a:t>Build a low-cost IoT system that measures vital signs, sends periodic SMS updates, stores the data in the cloud, and helps detect abnormal readings using machine learning.</a:t>
            </a:r>
            <a:endParaRPr lang="en-US" dirty="0"/>
          </a:p>
        </p:txBody>
      </p:sp>
      <p:sp>
        <p:nvSpPr>
          <p:cNvPr id="13" name="Shape 11"/>
          <p:cNvSpPr/>
          <p:nvPr/>
        </p:nvSpPr>
        <p:spPr>
          <a:xfrm>
            <a:off x="7991856" y="1554480"/>
            <a:ext cx="3566160" cy="4297680"/>
          </a:xfrm>
          <a:prstGeom prst="roundRect">
            <a:avLst>
              <a:gd name="adj" fmla="val 3077"/>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4" name="Shape 12"/>
          <p:cNvSpPr/>
          <p:nvPr/>
        </p:nvSpPr>
        <p:spPr>
          <a:xfrm>
            <a:off x="7991856" y="1554480"/>
            <a:ext cx="3566160" cy="109728"/>
          </a:xfrm>
          <a:prstGeom prst="rect">
            <a:avLst/>
          </a:prstGeom>
          <a:solidFill>
            <a:srgbClr val="1D7A8C"/>
          </a:solidFill>
          <a:ln w="12700">
            <a:solidFill>
              <a:srgbClr val="1D7A8C"/>
            </a:solidFill>
            <a:prstDash val="solid"/>
          </a:ln>
        </p:spPr>
      </p:sp>
      <p:sp>
        <p:nvSpPr>
          <p:cNvPr id="15" name="Text 13"/>
          <p:cNvSpPr/>
          <p:nvPr/>
        </p:nvSpPr>
        <p:spPr>
          <a:xfrm>
            <a:off x="8156448" y="1719072"/>
            <a:ext cx="3236976" cy="256032"/>
          </a:xfrm>
          <a:prstGeom prst="rect">
            <a:avLst/>
          </a:prstGeom>
          <a:noFill/>
          <a:ln/>
        </p:spPr>
        <p:txBody>
          <a:bodyPr wrap="square" lIns="0" tIns="0" rIns="0" bIns="0" rtlCol="0" anchor="ctr"/>
          <a:lstStyle/>
          <a:p>
            <a:pPr marL="0" indent="0">
              <a:buNone/>
            </a:pPr>
            <a:r>
              <a:rPr lang="en-US" sz="2400" b="1" dirty="0">
                <a:solidFill>
                  <a:srgbClr val="123B63"/>
                </a:solidFill>
              </a:rPr>
              <a:t>What makes it different</a:t>
            </a:r>
            <a:endParaRPr lang="en-US" sz="2400" dirty="0"/>
          </a:p>
        </p:txBody>
      </p:sp>
      <p:sp>
        <p:nvSpPr>
          <p:cNvPr id="16" name="Text 14"/>
          <p:cNvSpPr/>
          <p:nvPr/>
        </p:nvSpPr>
        <p:spPr>
          <a:xfrm>
            <a:off x="8156448" y="2157984"/>
            <a:ext cx="3236976" cy="3602736"/>
          </a:xfrm>
          <a:prstGeom prst="rect">
            <a:avLst/>
          </a:prstGeom>
          <a:noFill/>
          <a:ln/>
        </p:spPr>
        <p:txBody>
          <a:bodyPr wrap="square" lIns="0" tIns="0" rIns="0" bIns="0" rtlCol="0" anchor="t">
            <a:normAutofit/>
          </a:bodyPr>
          <a:lstStyle/>
          <a:p>
            <a:pPr marL="0" indent="0">
              <a:buNone/>
            </a:pPr>
            <a:r>
              <a:rPr lang="en-US" dirty="0">
                <a:solidFill>
                  <a:srgbClr val="425B71"/>
                </a:solidFill>
              </a:rPr>
              <a:t>The system is not just logging values. It also analyses the sensor pattern using an unsupervised anomaly detection model, so it can highlight readings that look unusual compared to normal data.</a:t>
            </a:r>
            <a:endParaRPr lang="en-US" dirty="0"/>
          </a:p>
        </p:txBody>
      </p:sp>
      <p:sp>
        <p:nvSpPr>
          <p:cNvPr id="17" name="Text 15"/>
          <p:cNvSpPr/>
          <p:nvPr/>
        </p:nvSpPr>
        <p:spPr>
          <a:xfrm>
            <a:off x="868680" y="6035040"/>
            <a:ext cx="10332720" cy="228600"/>
          </a:xfrm>
          <a:prstGeom prst="rect">
            <a:avLst/>
          </a:prstGeom>
          <a:noFill/>
          <a:ln/>
        </p:spPr>
        <p:txBody>
          <a:bodyPr wrap="square" lIns="0" tIns="0" rIns="0" bIns="0" rtlCol="0" anchor="ctr"/>
          <a:lstStyle/>
          <a:p>
            <a:pPr marL="0" indent="0" algn="ctr">
              <a:buNone/>
            </a:pPr>
            <a:r>
              <a:rPr lang="en-US" sz="1700" b="1" dirty="0">
                <a:solidFill>
                  <a:srgbClr val="123B63"/>
                </a:solidFill>
              </a:rPr>
              <a:t>Main focus: continuous monitoring + alerting + anomaly detection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000" b="1" dirty="0">
                <a:solidFill>
                  <a:srgbClr val="123B63"/>
                </a:solidFill>
                <a:latin typeface="Aptos Display" pitchFamily="34" charset="0"/>
                <a:ea typeface="Aptos Display" pitchFamily="34" charset="-122"/>
                <a:cs typeface="Aptos Display" pitchFamily="34" charset="-120"/>
              </a:rPr>
              <a:t>Hardware Components</a:t>
            </a:r>
            <a:endParaRPr lang="en-US" sz="30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sz="1600" dirty="0">
                <a:solidFill>
                  <a:srgbClr val="4D647A"/>
                </a:solidFill>
              </a:rPr>
              <a:t>Each part of the system has a simple role</a:t>
            </a:r>
            <a:endParaRPr lang="en-US" sz="1600" dirty="0"/>
          </a:p>
        </p:txBody>
      </p:sp>
      <p:sp>
        <p:nvSpPr>
          <p:cNvPr id="4" name="Shape 2"/>
          <p:cNvSpPr/>
          <p:nvPr/>
        </p:nvSpPr>
        <p:spPr>
          <a:xfrm>
            <a:off x="548640" y="1170432"/>
            <a:ext cx="11064240" cy="0"/>
          </a:xfrm>
          <a:prstGeom prst="line">
            <a:avLst/>
          </a:prstGeom>
          <a:noFill/>
          <a:ln w="12700">
            <a:solidFill>
              <a:srgbClr val="D6E1EA"/>
            </a:solidFill>
            <a:prstDash val="solid"/>
          </a:ln>
        </p:spPr>
      </p:sp>
      <p:sp>
        <p:nvSpPr>
          <p:cNvPr id="5" name="Shape 3"/>
          <p:cNvSpPr/>
          <p:nvPr/>
        </p:nvSpPr>
        <p:spPr>
          <a:xfrm>
            <a:off x="685800" y="155448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6" name="Shape 4"/>
          <p:cNvSpPr/>
          <p:nvPr/>
        </p:nvSpPr>
        <p:spPr>
          <a:xfrm>
            <a:off x="685800" y="1554480"/>
            <a:ext cx="2468880" cy="109728"/>
          </a:xfrm>
          <a:prstGeom prst="rect">
            <a:avLst/>
          </a:prstGeom>
          <a:solidFill>
            <a:srgbClr val="0F4C81"/>
          </a:solidFill>
          <a:ln w="12700">
            <a:solidFill>
              <a:srgbClr val="0F4C81"/>
            </a:solidFill>
            <a:prstDash val="solid"/>
          </a:ln>
        </p:spPr>
      </p:sp>
      <p:sp>
        <p:nvSpPr>
          <p:cNvPr id="7" name="Text 5"/>
          <p:cNvSpPr/>
          <p:nvPr/>
        </p:nvSpPr>
        <p:spPr>
          <a:xfrm>
            <a:off x="850392" y="1719072"/>
            <a:ext cx="2139696" cy="256032"/>
          </a:xfrm>
          <a:prstGeom prst="rect">
            <a:avLst/>
          </a:prstGeom>
          <a:noFill/>
          <a:ln/>
        </p:spPr>
        <p:txBody>
          <a:bodyPr wrap="square" lIns="0" tIns="0" rIns="0" bIns="0" rtlCol="0" anchor="ctr"/>
          <a:lstStyle/>
          <a:p>
            <a:pPr marL="0" indent="0">
              <a:buNone/>
            </a:pPr>
            <a:r>
              <a:rPr lang="en-US" sz="2000" b="1" dirty="0">
                <a:solidFill>
                  <a:srgbClr val="123B63"/>
                </a:solidFill>
              </a:rPr>
              <a:t>NodeMCU ESP32</a:t>
            </a:r>
            <a:endParaRPr lang="en-US" sz="2000" dirty="0"/>
          </a:p>
        </p:txBody>
      </p:sp>
      <p:sp>
        <p:nvSpPr>
          <p:cNvPr id="8" name="Text 6"/>
          <p:cNvSpPr/>
          <p:nvPr/>
        </p:nvSpPr>
        <p:spPr>
          <a:xfrm>
            <a:off x="850392" y="2029968"/>
            <a:ext cx="2139696" cy="1216152"/>
          </a:xfrm>
          <a:prstGeom prst="rect">
            <a:avLst/>
          </a:prstGeom>
          <a:noFill/>
          <a:ln/>
        </p:spPr>
        <p:txBody>
          <a:bodyPr wrap="square" lIns="0" tIns="0" rIns="0" bIns="0" rtlCol="0" anchor="t">
            <a:normAutofit/>
          </a:bodyPr>
          <a:lstStyle/>
          <a:p>
            <a:pPr marL="0" indent="0">
              <a:buNone/>
            </a:pPr>
            <a:r>
              <a:rPr lang="en-US" sz="1600" dirty="0">
                <a:solidFill>
                  <a:srgbClr val="425B71"/>
                </a:solidFill>
              </a:rPr>
              <a:t>Main controller that reads sensors and manages communication.</a:t>
            </a:r>
            <a:endParaRPr lang="en-US" sz="1600" dirty="0"/>
          </a:p>
        </p:txBody>
      </p:sp>
      <p:sp>
        <p:nvSpPr>
          <p:cNvPr id="9" name="Shape 7"/>
          <p:cNvSpPr/>
          <p:nvPr/>
        </p:nvSpPr>
        <p:spPr>
          <a:xfrm>
            <a:off x="3611880" y="155448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0" name="Shape 8"/>
          <p:cNvSpPr/>
          <p:nvPr/>
        </p:nvSpPr>
        <p:spPr>
          <a:xfrm>
            <a:off x="3611880" y="1554480"/>
            <a:ext cx="2468880" cy="109728"/>
          </a:xfrm>
          <a:prstGeom prst="rect">
            <a:avLst/>
          </a:prstGeom>
          <a:solidFill>
            <a:srgbClr val="1D7A8C"/>
          </a:solidFill>
          <a:ln w="12700">
            <a:solidFill>
              <a:srgbClr val="1D7A8C"/>
            </a:solidFill>
            <a:prstDash val="solid"/>
          </a:ln>
        </p:spPr>
      </p:sp>
      <p:sp>
        <p:nvSpPr>
          <p:cNvPr id="11" name="Text 9"/>
          <p:cNvSpPr/>
          <p:nvPr/>
        </p:nvSpPr>
        <p:spPr>
          <a:xfrm>
            <a:off x="3776472" y="1719072"/>
            <a:ext cx="2139696" cy="256032"/>
          </a:xfrm>
          <a:prstGeom prst="rect">
            <a:avLst/>
          </a:prstGeom>
          <a:noFill/>
          <a:ln/>
        </p:spPr>
        <p:txBody>
          <a:bodyPr wrap="square" lIns="0" tIns="0" rIns="0" bIns="0" rtlCol="0" anchor="ctr"/>
          <a:lstStyle/>
          <a:p>
            <a:pPr marL="0" indent="0">
              <a:buNone/>
            </a:pPr>
            <a:r>
              <a:rPr lang="en-US" sz="2000" b="1" dirty="0">
                <a:solidFill>
                  <a:srgbClr val="123B63"/>
                </a:solidFill>
              </a:rPr>
              <a:t>HB + SpO2 Sensor</a:t>
            </a:r>
            <a:endParaRPr lang="en-US" sz="2000" dirty="0"/>
          </a:p>
        </p:txBody>
      </p:sp>
      <p:sp>
        <p:nvSpPr>
          <p:cNvPr id="12" name="Text 10"/>
          <p:cNvSpPr/>
          <p:nvPr/>
        </p:nvSpPr>
        <p:spPr>
          <a:xfrm>
            <a:off x="3776472" y="2029968"/>
            <a:ext cx="2139696" cy="1216152"/>
          </a:xfrm>
          <a:prstGeom prst="rect">
            <a:avLst/>
          </a:prstGeom>
          <a:noFill/>
          <a:ln/>
        </p:spPr>
        <p:txBody>
          <a:bodyPr wrap="square" lIns="0" tIns="0" rIns="0" bIns="0" rtlCol="0" anchor="t">
            <a:normAutofit/>
          </a:bodyPr>
          <a:lstStyle/>
          <a:p>
            <a:pPr marL="0" indent="0">
              <a:buNone/>
            </a:pPr>
            <a:r>
              <a:rPr lang="en-US" sz="1600" dirty="0">
                <a:solidFill>
                  <a:srgbClr val="425B71"/>
                </a:solidFill>
              </a:rPr>
              <a:t>Measures heart rate and blood oxygen continuously.</a:t>
            </a:r>
            <a:endParaRPr lang="en-US" sz="1600" dirty="0"/>
          </a:p>
        </p:txBody>
      </p:sp>
      <p:sp>
        <p:nvSpPr>
          <p:cNvPr id="13" name="Shape 11"/>
          <p:cNvSpPr/>
          <p:nvPr/>
        </p:nvSpPr>
        <p:spPr>
          <a:xfrm>
            <a:off x="6537960" y="155448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4" name="Shape 12"/>
          <p:cNvSpPr/>
          <p:nvPr/>
        </p:nvSpPr>
        <p:spPr>
          <a:xfrm>
            <a:off x="6537960" y="1554480"/>
            <a:ext cx="2468880" cy="109728"/>
          </a:xfrm>
          <a:prstGeom prst="rect">
            <a:avLst/>
          </a:prstGeom>
          <a:solidFill>
            <a:srgbClr val="0F4C81"/>
          </a:solidFill>
          <a:ln w="12700">
            <a:solidFill>
              <a:srgbClr val="0F4C81"/>
            </a:solidFill>
            <a:prstDash val="solid"/>
          </a:ln>
        </p:spPr>
      </p:sp>
      <p:sp>
        <p:nvSpPr>
          <p:cNvPr id="15" name="Text 13"/>
          <p:cNvSpPr/>
          <p:nvPr/>
        </p:nvSpPr>
        <p:spPr>
          <a:xfrm>
            <a:off x="6702552" y="1719072"/>
            <a:ext cx="2139696" cy="536126"/>
          </a:xfrm>
          <a:prstGeom prst="rect">
            <a:avLst/>
          </a:prstGeom>
          <a:noFill/>
          <a:ln/>
        </p:spPr>
        <p:txBody>
          <a:bodyPr wrap="square" lIns="0" tIns="0" rIns="0" bIns="0" rtlCol="0" anchor="ctr"/>
          <a:lstStyle/>
          <a:p>
            <a:pPr marL="0" indent="0">
              <a:buNone/>
            </a:pPr>
            <a:r>
              <a:rPr lang="en-US" sz="2000" b="1" dirty="0">
                <a:solidFill>
                  <a:srgbClr val="123B63"/>
                </a:solidFill>
              </a:rPr>
              <a:t>Body Temperature Sensor</a:t>
            </a:r>
            <a:endParaRPr lang="en-US" sz="2000" dirty="0"/>
          </a:p>
        </p:txBody>
      </p:sp>
      <p:sp>
        <p:nvSpPr>
          <p:cNvPr id="16" name="Text 14"/>
          <p:cNvSpPr/>
          <p:nvPr/>
        </p:nvSpPr>
        <p:spPr>
          <a:xfrm>
            <a:off x="6702552" y="2310062"/>
            <a:ext cx="2139696" cy="936057"/>
          </a:xfrm>
          <a:prstGeom prst="rect">
            <a:avLst/>
          </a:prstGeom>
          <a:noFill/>
          <a:ln/>
        </p:spPr>
        <p:txBody>
          <a:bodyPr wrap="square" lIns="0" tIns="0" rIns="0" bIns="0" rtlCol="0" anchor="t">
            <a:normAutofit/>
          </a:bodyPr>
          <a:lstStyle/>
          <a:p>
            <a:pPr marL="0" indent="0">
              <a:buNone/>
            </a:pPr>
            <a:r>
              <a:rPr lang="en-US" sz="1600" dirty="0">
                <a:solidFill>
                  <a:srgbClr val="425B71"/>
                </a:solidFill>
              </a:rPr>
              <a:t>Tracks the user’s body temperature.</a:t>
            </a:r>
            <a:endParaRPr lang="en-US" sz="1600" dirty="0"/>
          </a:p>
        </p:txBody>
      </p:sp>
      <p:sp>
        <p:nvSpPr>
          <p:cNvPr id="17" name="Shape 15"/>
          <p:cNvSpPr/>
          <p:nvPr/>
        </p:nvSpPr>
        <p:spPr>
          <a:xfrm>
            <a:off x="9464040" y="155448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8" name="Shape 16"/>
          <p:cNvSpPr/>
          <p:nvPr/>
        </p:nvSpPr>
        <p:spPr>
          <a:xfrm>
            <a:off x="9464040" y="1554480"/>
            <a:ext cx="2468880" cy="109728"/>
          </a:xfrm>
          <a:prstGeom prst="rect">
            <a:avLst/>
          </a:prstGeom>
          <a:solidFill>
            <a:srgbClr val="1D7A8C"/>
          </a:solidFill>
          <a:ln w="12700">
            <a:solidFill>
              <a:srgbClr val="1D7A8C"/>
            </a:solidFill>
            <a:prstDash val="solid"/>
          </a:ln>
        </p:spPr>
      </p:sp>
      <p:sp>
        <p:nvSpPr>
          <p:cNvPr id="19" name="Text 17"/>
          <p:cNvSpPr/>
          <p:nvPr/>
        </p:nvSpPr>
        <p:spPr>
          <a:xfrm>
            <a:off x="9628632" y="1719071"/>
            <a:ext cx="2139696" cy="545271"/>
          </a:xfrm>
          <a:prstGeom prst="rect">
            <a:avLst/>
          </a:prstGeom>
          <a:noFill/>
          <a:ln/>
        </p:spPr>
        <p:txBody>
          <a:bodyPr wrap="square" lIns="0" tIns="0" rIns="0" bIns="0" rtlCol="0" anchor="ctr"/>
          <a:lstStyle/>
          <a:p>
            <a:pPr marL="0" indent="0">
              <a:buNone/>
            </a:pPr>
            <a:r>
              <a:rPr lang="en-US" sz="2000" b="1" dirty="0">
                <a:solidFill>
                  <a:srgbClr val="123B63"/>
                </a:solidFill>
              </a:rPr>
              <a:t>Ambient Temp Sensor</a:t>
            </a:r>
            <a:endParaRPr lang="en-US" sz="2000" dirty="0"/>
          </a:p>
        </p:txBody>
      </p:sp>
      <p:sp>
        <p:nvSpPr>
          <p:cNvPr id="20" name="Text 18"/>
          <p:cNvSpPr/>
          <p:nvPr/>
        </p:nvSpPr>
        <p:spPr>
          <a:xfrm>
            <a:off x="9628632" y="2310062"/>
            <a:ext cx="2139696" cy="1073217"/>
          </a:xfrm>
          <a:prstGeom prst="rect">
            <a:avLst/>
          </a:prstGeom>
          <a:noFill/>
          <a:ln/>
        </p:spPr>
        <p:txBody>
          <a:bodyPr wrap="square" lIns="0" tIns="0" rIns="0" bIns="0" rtlCol="0" anchor="t">
            <a:normAutofit/>
          </a:bodyPr>
          <a:lstStyle/>
          <a:p>
            <a:pPr marL="0" indent="0">
              <a:buNone/>
            </a:pPr>
            <a:r>
              <a:rPr lang="en-US" sz="1600" dirty="0">
                <a:solidFill>
                  <a:srgbClr val="425B71"/>
                </a:solidFill>
              </a:rPr>
              <a:t>Measures surrounding temperature.</a:t>
            </a:r>
            <a:endParaRPr lang="en-US" sz="1600" dirty="0"/>
          </a:p>
        </p:txBody>
      </p:sp>
      <p:sp>
        <p:nvSpPr>
          <p:cNvPr id="21" name="Shape 19"/>
          <p:cNvSpPr/>
          <p:nvPr/>
        </p:nvSpPr>
        <p:spPr>
          <a:xfrm>
            <a:off x="685800" y="365760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2" name="Shape 20"/>
          <p:cNvSpPr/>
          <p:nvPr/>
        </p:nvSpPr>
        <p:spPr>
          <a:xfrm>
            <a:off x="685800" y="3657600"/>
            <a:ext cx="2468880" cy="109728"/>
          </a:xfrm>
          <a:prstGeom prst="rect">
            <a:avLst/>
          </a:prstGeom>
          <a:solidFill>
            <a:srgbClr val="0F4C81"/>
          </a:solidFill>
          <a:ln w="12700">
            <a:solidFill>
              <a:srgbClr val="0F4C81"/>
            </a:solidFill>
            <a:prstDash val="solid"/>
          </a:ln>
        </p:spPr>
      </p:sp>
      <p:sp>
        <p:nvSpPr>
          <p:cNvPr id="23" name="Text 21"/>
          <p:cNvSpPr/>
          <p:nvPr/>
        </p:nvSpPr>
        <p:spPr>
          <a:xfrm>
            <a:off x="850392" y="3822192"/>
            <a:ext cx="2139696" cy="256032"/>
          </a:xfrm>
          <a:prstGeom prst="rect">
            <a:avLst/>
          </a:prstGeom>
          <a:noFill/>
          <a:ln/>
        </p:spPr>
        <p:txBody>
          <a:bodyPr wrap="square" lIns="0" tIns="0" rIns="0" bIns="0" rtlCol="0" anchor="ctr"/>
          <a:lstStyle/>
          <a:p>
            <a:pPr marL="0" indent="0">
              <a:buNone/>
            </a:pPr>
            <a:r>
              <a:rPr lang="en-US" sz="2000" b="1" dirty="0">
                <a:solidFill>
                  <a:srgbClr val="123B63"/>
                </a:solidFill>
              </a:rPr>
              <a:t>Humidity Sensor</a:t>
            </a:r>
            <a:endParaRPr lang="en-US" sz="2000" dirty="0"/>
          </a:p>
        </p:txBody>
      </p:sp>
      <p:sp>
        <p:nvSpPr>
          <p:cNvPr id="24" name="Text 22"/>
          <p:cNvSpPr/>
          <p:nvPr/>
        </p:nvSpPr>
        <p:spPr>
          <a:xfrm>
            <a:off x="850392" y="4133088"/>
            <a:ext cx="2139696" cy="1216152"/>
          </a:xfrm>
          <a:prstGeom prst="rect">
            <a:avLst/>
          </a:prstGeom>
          <a:noFill/>
          <a:ln/>
        </p:spPr>
        <p:txBody>
          <a:bodyPr wrap="square" lIns="0" tIns="0" rIns="0" bIns="0" rtlCol="0" anchor="t">
            <a:normAutofit/>
          </a:bodyPr>
          <a:lstStyle/>
          <a:p>
            <a:pPr marL="0" indent="0">
              <a:buNone/>
            </a:pPr>
            <a:r>
              <a:rPr lang="en-US" sz="1600" dirty="0">
                <a:solidFill>
                  <a:srgbClr val="425B71"/>
                </a:solidFill>
              </a:rPr>
              <a:t>Monitors air moisture level.</a:t>
            </a:r>
            <a:endParaRPr lang="en-US" sz="1600" dirty="0"/>
          </a:p>
        </p:txBody>
      </p:sp>
      <p:sp>
        <p:nvSpPr>
          <p:cNvPr id="25" name="Shape 23"/>
          <p:cNvSpPr/>
          <p:nvPr/>
        </p:nvSpPr>
        <p:spPr>
          <a:xfrm>
            <a:off x="3611880" y="365760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6" name="Shape 24"/>
          <p:cNvSpPr/>
          <p:nvPr/>
        </p:nvSpPr>
        <p:spPr>
          <a:xfrm>
            <a:off x="3611880" y="3657600"/>
            <a:ext cx="2468880" cy="109728"/>
          </a:xfrm>
          <a:prstGeom prst="rect">
            <a:avLst/>
          </a:prstGeom>
          <a:solidFill>
            <a:srgbClr val="1D7A8C"/>
          </a:solidFill>
          <a:ln w="12700">
            <a:solidFill>
              <a:srgbClr val="1D7A8C"/>
            </a:solidFill>
            <a:prstDash val="solid"/>
          </a:ln>
        </p:spPr>
      </p:sp>
      <p:sp>
        <p:nvSpPr>
          <p:cNvPr id="27" name="Text 25"/>
          <p:cNvSpPr/>
          <p:nvPr/>
        </p:nvSpPr>
        <p:spPr>
          <a:xfrm>
            <a:off x="3776472" y="3822192"/>
            <a:ext cx="2139696" cy="256032"/>
          </a:xfrm>
          <a:prstGeom prst="rect">
            <a:avLst/>
          </a:prstGeom>
          <a:noFill/>
          <a:ln/>
        </p:spPr>
        <p:txBody>
          <a:bodyPr wrap="square" lIns="0" tIns="0" rIns="0" bIns="0" rtlCol="0" anchor="ctr"/>
          <a:lstStyle/>
          <a:p>
            <a:pPr marL="0" indent="0">
              <a:buNone/>
            </a:pPr>
            <a:r>
              <a:rPr lang="en-US" sz="2000" b="1" dirty="0">
                <a:solidFill>
                  <a:srgbClr val="123B63"/>
                </a:solidFill>
              </a:rPr>
              <a:t>GSM Module</a:t>
            </a:r>
            <a:endParaRPr lang="en-US" sz="2000" dirty="0"/>
          </a:p>
        </p:txBody>
      </p:sp>
      <p:sp>
        <p:nvSpPr>
          <p:cNvPr id="28" name="Text 26"/>
          <p:cNvSpPr/>
          <p:nvPr/>
        </p:nvSpPr>
        <p:spPr>
          <a:xfrm>
            <a:off x="3776472" y="4133088"/>
            <a:ext cx="2139696" cy="1216152"/>
          </a:xfrm>
          <a:prstGeom prst="rect">
            <a:avLst/>
          </a:prstGeom>
          <a:noFill/>
          <a:ln/>
        </p:spPr>
        <p:txBody>
          <a:bodyPr wrap="square" lIns="0" tIns="0" rIns="0" bIns="0" rtlCol="0" anchor="t">
            <a:normAutofit/>
          </a:bodyPr>
          <a:lstStyle/>
          <a:p>
            <a:pPr marL="0" indent="0">
              <a:buNone/>
            </a:pPr>
            <a:r>
              <a:rPr lang="en-US" sz="1600" dirty="0">
                <a:solidFill>
                  <a:srgbClr val="425B71"/>
                </a:solidFill>
              </a:rPr>
              <a:t>Sends periodic SMS alerts and readings.</a:t>
            </a:r>
            <a:endParaRPr lang="en-US" sz="1600" dirty="0"/>
          </a:p>
        </p:txBody>
      </p:sp>
      <p:sp>
        <p:nvSpPr>
          <p:cNvPr id="29" name="Shape 27"/>
          <p:cNvSpPr/>
          <p:nvPr/>
        </p:nvSpPr>
        <p:spPr>
          <a:xfrm>
            <a:off x="6537960" y="365760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30" name="Shape 28"/>
          <p:cNvSpPr/>
          <p:nvPr/>
        </p:nvSpPr>
        <p:spPr>
          <a:xfrm>
            <a:off x="6537960" y="3657600"/>
            <a:ext cx="2468880" cy="109728"/>
          </a:xfrm>
          <a:prstGeom prst="rect">
            <a:avLst/>
          </a:prstGeom>
          <a:solidFill>
            <a:srgbClr val="0F4C81"/>
          </a:solidFill>
          <a:ln w="12700">
            <a:solidFill>
              <a:srgbClr val="0F4C81"/>
            </a:solidFill>
            <a:prstDash val="solid"/>
          </a:ln>
        </p:spPr>
      </p:sp>
      <p:sp>
        <p:nvSpPr>
          <p:cNvPr id="31" name="Text 29"/>
          <p:cNvSpPr/>
          <p:nvPr/>
        </p:nvSpPr>
        <p:spPr>
          <a:xfrm>
            <a:off x="6702552" y="3822192"/>
            <a:ext cx="2139696" cy="256032"/>
          </a:xfrm>
          <a:prstGeom prst="rect">
            <a:avLst/>
          </a:prstGeom>
          <a:noFill/>
          <a:ln/>
        </p:spPr>
        <p:txBody>
          <a:bodyPr wrap="square" lIns="0" tIns="0" rIns="0" bIns="0" rtlCol="0" anchor="ctr"/>
          <a:lstStyle/>
          <a:p>
            <a:pPr marL="0" indent="0">
              <a:buNone/>
            </a:pPr>
            <a:r>
              <a:rPr lang="en-US" sz="2000" b="1" dirty="0">
                <a:solidFill>
                  <a:srgbClr val="123B63"/>
                </a:solidFill>
              </a:rPr>
              <a:t>Buzzer</a:t>
            </a:r>
            <a:endParaRPr lang="en-US" sz="2000" dirty="0"/>
          </a:p>
        </p:txBody>
      </p:sp>
      <p:sp>
        <p:nvSpPr>
          <p:cNvPr id="32" name="Text 30"/>
          <p:cNvSpPr/>
          <p:nvPr/>
        </p:nvSpPr>
        <p:spPr>
          <a:xfrm>
            <a:off x="6702552" y="4133088"/>
            <a:ext cx="2139696" cy="1216152"/>
          </a:xfrm>
          <a:prstGeom prst="rect">
            <a:avLst/>
          </a:prstGeom>
          <a:noFill/>
          <a:ln/>
        </p:spPr>
        <p:txBody>
          <a:bodyPr wrap="square" lIns="0" tIns="0" rIns="0" bIns="0" rtlCol="0" anchor="t">
            <a:normAutofit/>
          </a:bodyPr>
          <a:lstStyle/>
          <a:p>
            <a:pPr marL="0" indent="0">
              <a:buNone/>
            </a:pPr>
            <a:r>
              <a:rPr lang="en-US" sz="1600" dirty="0">
                <a:solidFill>
                  <a:srgbClr val="425B71"/>
                </a:solidFill>
              </a:rPr>
              <a:t>Gives local alarm when readings are abnormal.</a:t>
            </a:r>
            <a:endParaRPr lang="en-US" sz="1600" dirty="0"/>
          </a:p>
        </p:txBody>
      </p:sp>
      <p:sp>
        <p:nvSpPr>
          <p:cNvPr id="33" name="Shape 31"/>
          <p:cNvSpPr/>
          <p:nvPr/>
        </p:nvSpPr>
        <p:spPr>
          <a:xfrm>
            <a:off x="9464040" y="3657600"/>
            <a:ext cx="2468880" cy="1783080"/>
          </a:xfrm>
          <a:prstGeom prst="roundRect">
            <a:avLst>
              <a:gd name="adj" fmla="val 615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34" name="Shape 32"/>
          <p:cNvSpPr/>
          <p:nvPr/>
        </p:nvSpPr>
        <p:spPr>
          <a:xfrm>
            <a:off x="9464040" y="3657600"/>
            <a:ext cx="2468880" cy="109728"/>
          </a:xfrm>
          <a:prstGeom prst="rect">
            <a:avLst/>
          </a:prstGeom>
          <a:solidFill>
            <a:srgbClr val="1D7A8C"/>
          </a:solidFill>
          <a:ln w="12700">
            <a:solidFill>
              <a:srgbClr val="1D7A8C"/>
            </a:solidFill>
            <a:prstDash val="solid"/>
          </a:ln>
        </p:spPr>
      </p:sp>
      <p:sp>
        <p:nvSpPr>
          <p:cNvPr id="35" name="Text 33"/>
          <p:cNvSpPr/>
          <p:nvPr/>
        </p:nvSpPr>
        <p:spPr>
          <a:xfrm>
            <a:off x="9628632" y="3822192"/>
            <a:ext cx="2139696" cy="256032"/>
          </a:xfrm>
          <a:prstGeom prst="rect">
            <a:avLst/>
          </a:prstGeom>
          <a:noFill/>
          <a:ln/>
        </p:spPr>
        <p:txBody>
          <a:bodyPr wrap="square" lIns="0" tIns="0" rIns="0" bIns="0" rtlCol="0" anchor="ctr"/>
          <a:lstStyle/>
          <a:p>
            <a:pPr marL="0" indent="0">
              <a:buNone/>
            </a:pPr>
            <a:r>
              <a:rPr lang="en-US" sz="2000" b="1" dirty="0">
                <a:solidFill>
                  <a:srgbClr val="123B63"/>
                </a:solidFill>
              </a:rPr>
              <a:t>LCD Display</a:t>
            </a:r>
            <a:endParaRPr lang="en-US" sz="2000" dirty="0"/>
          </a:p>
        </p:txBody>
      </p:sp>
      <p:sp>
        <p:nvSpPr>
          <p:cNvPr id="36" name="Text 34"/>
          <p:cNvSpPr/>
          <p:nvPr/>
        </p:nvSpPr>
        <p:spPr>
          <a:xfrm>
            <a:off x="9628632" y="4133088"/>
            <a:ext cx="2139696" cy="1216152"/>
          </a:xfrm>
          <a:prstGeom prst="rect">
            <a:avLst/>
          </a:prstGeom>
          <a:noFill/>
          <a:ln/>
        </p:spPr>
        <p:txBody>
          <a:bodyPr wrap="square" lIns="0" tIns="0" rIns="0" bIns="0" rtlCol="0" anchor="t">
            <a:normAutofit/>
          </a:bodyPr>
          <a:lstStyle/>
          <a:p>
            <a:pPr marL="0" indent="0">
              <a:buNone/>
            </a:pPr>
            <a:r>
              <a:rPr lang="en-US" sz="1600" dirty="0">
                <a:solidFill>
                  <a:srgbClr val="425B71"/>
                </a:solidFill>
              </a:rPr>
              <a:t>Shows the latest sensor values on the device.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000" b="1" dirty="0">
                <a:solidFill>
                  <a:srgbClr val="123B63"/>
                </a:solidFill>
                <a:latin typeface="Aptos Display" pitchFamily="34" charset="0"/>
                <a:ea typeface="Aptos Display" pitchFamily="34" charset="-122"/>
                <a:cs typeface="Aptos Display" pitchFamily="34" charset="-120"/>
              </a:rPr>
              <a:t>System Workflow</a:t>
            </a:r>
            <a:endParaRPr lang="en-US" sz="30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dirty="0">
                <a:solidFill>
                  <a:srgbClr val="4D647A"/>
                </a:solidFill>
              </a:rPr>
              <a:t>How data moves from sensors to the dashboard</a:t>
            </a:r>
            <a:endParaRPr lang="en-US" dirty="0"/>
          </a:p>
        </p:txBody>
      </p:sp>
      <p:sp>
        <p:nvSpPr>
          <p:cNvPr id="4" name="Shape 2"/>
          <p:cNvSpPr/>
          <p:nvPr/>
        </p:nvSpPr>
        <p:spPr>
          <a:xfrm>
            <a:off x="548640" y="1170432"/>
            <a:ext cx="11064240" cy="0"/>
          </a:xfrm>
          <a:prstGeom prst="line">
            <a:avLst/>
          </a:prstGeom>
          <a:noFill/>
          <a:ln w="12700">
            <a:solidFill>
              <a:srgbClr val="D6E1EA"/>
            </a:solidFill>
            <a:prstDash val="solid"/>
          </a:ln>
        </p:spPr>
      </p:sp>
      <p:sp>
        <p:nvSpPr>
          <p:cNvPr id="5" name="Shape 3"/>
          <p:cNvSpPr/>
          <p:nvPr/>
        </p:nvSpPr>
        <p:spPr>
          <a:xfrm>
            <a:off x="502920" y="2148840"/>
            <a:ext cx="1783080" cy="1234440"/>
          </a:xfrm>
          <a:prstGeom prst="roundRect">
            <a:avLst>
              <a:gd name="adj" fmla="val 5926"/>
            </a:avLst>
          </a:prstGeom>
          <a:solidFill>
            <a:srgbClr val="FFFFFF"/>
          </a:solidFill>
          <a:ln w="12700">
            <a:solidFill>
              <a:srgbClr val="BFD0DE"/>
            </a:solidFill>
            <a:prstDash val="solid"/>
          </a:ln>
        </p:spPr>
      </p:sp>
      <p:sp>
        <p:nvSpPr>
          <p:cNvPr id="6" name="Text 4"/>
          <p:cNvSpPr/>
          <p:nvPr/>
        </p:nvSpPr>
        <p:spPr>
          <a:xfrm>
            <a:off x="576072" y="2304288"/>
            <a:ext cx="1636776" cy="219456"/>
          </a:xfrm>
          <a:prstGeom prst="rect">
            <a:avLst/>
          </a:prstGeom>
          <a:noFill/>
          <a:ln/>
        </p:spPr>
        <p:txBody>
          <a:bodyPr wrap="square" lIns="0" tIns="0" rIns="0" bIns="0" rtlCol="0" anchor="ctr">
            <a:noAutofit/>
          </a:bodyPr>
          <a:lstStyle/>
          <a:p>
            <a:pPr marL="0" indent="0" algn="ctr">
              <a:buNone/>
            </a:pPr>
            <a:r>
              <a:rPr lang="en-US" sz="2400" b="1" dirty="0">
                <a:solidFill>
                  <a:srgbClr val="123B63"/>
                </a:solidFill>
              </a:rPr>
              <a:t>Sensors</a:t>
            </a:r>
            <a:endParaRPr lang="en-US" sz="2400" dirty="0"/>
          </a:p>
        </p:txBody>
      </p:sp>
      <p:sp>
        <p:nvSpPr>
          <p:cNvPr id="7" name="Text 5"/>
          <p:cNvSpPr/>
          <p:nvPr/>
        </p:nvSpPr>
        <p:spPr>
          <a:xfrm>
            <a:off x="576072" y="2578607"/>
            <a:ext cx="1636776" cy="732483"/>
          </a:xfrm>
          <a:prstGeom prst="rect">
            <a:avLst/>
          </a:prstGeom>
          <a:noFill/>
          <a:ln/>
        </p:spPr>
        <p:txBody>
          <a:bodyPr wrap="square" lIns="0" tIns="0" rIns="0" bIns="0" rtlCol="0" anchor="ctr">
            <a:noAutofit/>
          </a:bodyPr>
          <a:lstStyle/>
          <a:p>
            <a:pPr marL="0" indent="0" algn="ctr">
              <a:buNone/>
            </a:pPr>
            <a:r>
              <a:rPr lang="en-US" sz="1400" b="1" dirty="0">
                <a:solidFill>
                  <a:srgbClr val="425B71"/>
                </a:solidFill>
              </a:rPr>
              <a:t>HB, SpO2, body temp, ambient temp, humidity</a:t>
            </a:r>
            <a:endParaRPr lang="en-US" sz="1400" b="1" dirty="0"/>
          </a:p>
        </p:txBody>
      </p:sp>
      <p:sp>
        <p:nvSpPr>
          <p:cNvPr id="8" name="Shape 6"/>
          <p:cNvSpPr/>
          <p:nvPr/>
        </p:nvSpPr>
        <p:spPr>
          <a:xfrm>
            <a:off x="2322576" y="2761488"/>
            <a:ext cx="173736" cy="0"/>
          </a:xfrm>
          <a:prstGeom prst="line">
            <a:avLst/>
          </a:prstGeom>
          <a:noFill/>
          <a:ln w="12700">
            <a:solidFill>
              <a:srgbClr val="7B93A8"/>
            </a:solidFill>
            <a:prstDash val="solid"/>
            <a:tailEnd type="triangle"/>
          </a:ln>
        </p:spPr>
      </p:sp>
      <p:sp>
        <p:nvSpPr>
          <p:cNvPr id="9" name="Shape 7"/>
          <p:cNvSpPr/>
          <p:nvPr/>
        </p:nvSpPr>
        <p:spPr>
          <a:xfrm>
            <a:off x="2450592" y="2148840"/>
            <a:ext cx="1600200" cy="1234440"/>
          </a:xfrm>
          <a:prstGeom prst="roundRect">
            <a:avLst>
              <a:gd name="adj" fmla="val 5926"/>
            </a:avLst>
          </a:prstGeom>
          <a:solidFill>
            <a:srgbClr val="F0F6FB"/>
          </a:solidFill>
          <a:ln w="12700">
            <a:solidFill>
              <a:srgbClr val="BFD0DE"/>
            </a:solidFill>
            <a:prstDash val="solid"/>
          </a:ln>
        </p:spPr>
      </p:sp>
      <p:sp>
        <p:nvSpPr>
          <p:cNvPr id="10" name="Text 8"/>
          <p:cNvSpPr/>
          <p:nvPr/>
        </p:nvSpPr>
        <p:spPr>
          <a:xfrm>
            <a:off x="2523744" y="2304288"/>
            <a:ext cx="1453896" cy="219456"/>
          </a:xfrm>
          <a:prstGeom prst="rect">
            <a:avLst/>
          </a:prstGeom>
          <a:noFill/>
          <a:ln/>
        </p:spPr>
        <p:txBody>
          <a:bodyPr wrap="square" lIns="0" tIns="0" rIns="0" bIns="0" rtlCol="0" anchor="ctr">
            <a:noAutofit/>
          </a:bodyPr>
          <a:lstStyle/>
          <a:p>
            <a:pPr marL="0" indent="0" algn="ctr">
              <a:buNone/>
            </a:pPr>
            <a:r>
              <a:rPr lang="en-US" sz="2400" b="1" dirty="0">
                <a:solidFill>
                  <a:srgbClr val="123B63"/>
                </a:solidFill>
              </a:rPr>
              <a:t>ESP32</a:t>
            </a:r>
            <a:endParaRPr lang="en-US" sz="2400" dirty="0"/>
          </a:p>
        </p:txBody>
      </p:sp>
      <p:sp>
        <p:nvSpPr>
          <p:cNvPr id="11" name="Text 9"/>
          <p:cNvSpPr/>
          <p:nvPr/>
        </p:nvSpPr>
        <p:spPr>
          <a:xfrm>
            <a:off x="2523744" y="2578607"/>
            <a:ext cx="1453896" cy="804665"/>
          </a:xfrm>
          <a:prstGeom prst="rect">
            <a:avLst/>
          </a:prstGeom>
          <a:noFill/>
          <a:ln/>
        </p:spPr>
        <p:txBody>
          <a:bodyPr wrap="square" lIns="0" tIns="0" rIns="0" bIns="0" rtlCol="0" anchor="ctr">
            <a:noAutofit/>
          </a:bodyPr>
          <a:lstStyle/>
          <a:p>
            <a:pPr marL="0" indent="0" algn="ctr">
              <a:buNone/>
            </a:pPr>
            <a:r>
              <a:rPr lang="en-US" sz="1400" b="1" dirty="0">
                <a:solidFill>
                  <a:srgbClr val="425B71"/>
                </a:solidFill>
              </a:rPr>
              <a:t>Reads values and prepares the packet</a:t>
            </a:r>
            <a:endParaRPr lang="en-US" sz="1400" b="1" dirty="0"/>
          </a:p>
        </p:txBody>
      </p:sp>
      <p:sp>
        <p:nvSpPr>
          <p:cNvPr id="12" name="Shape 10"/>
          <p:cNvSpPr/>
          <p:nvPr/>
        </p:nvSpPr>
        <p:spPr>
          <a:xfrm>
            <a:off x="4087368" y="2761488"/>
            <a:ext cx="173736" cy="0"/>
          </a:xfrm>
          <a:prstGeom prst="line">
            <a:avLst/>
          </a:prstGeom>
          <a:noFill/>
          <a:ln w="12700">
            <a:solidFill>
              <a:srgbClr val="7B93A8"/>
            </a:solidFill>
            <a:prstDash val="solid"/>
            <a:tailEnd type="triangle"/>
          </a:ln>
        </p:spPr>
      </p:sp>
      <p:sp>
        <p:nvSpPr>
          <p:cNvPr id="13" name="Shape 11"/>
          <p:cNvSpPr/>
          <p:nvPr/>
        </p:nvSpPr>
        <p:spPr>
          <a:xfrm>
            <a:off x="4215384" y="2148840"/>
            <a:ext cx="1600200" cy="1234440"/>
          </a:xfrm>
          <a:prstGeom prst="roundRect">
            <a:avLst>
              <a:gd name="adj" fmla="val 5926"/>
            </a:avLst>
          </a:prstGeom>
          <a:solidFill>
            <a:srgbClr val="FFFFFF"/>
          </a:solidFill>
          <a:ln w="12700">
            <a:solidFill>
              <a:srgbClr val="BFD0DE"/>
            </a:solidFill>
            <a:prstDash val="solid"/>
          </a:ln>
        </p:spPr>
      </p:sp>
      <p:sp>
        <p:nvSpPr>
          <p:cNvPr id="14" name="Text 12"/>
          <p:cNvSpPr/>
          <p:nvPr/>
        </p:nvSpPr>
        <p:spPr>
          <a:xfrm>
            <a:off x="4288536" y="2304288"/>
            <a:ext cx="1453896" cy="219456"/>
          </a:xfrm>
          <a:prstGeom prst="rect">
            <a:avLst/>
          </a:prstGeom>
          <a:noFill/>
          <a:ln/>
        </p:spPr>
        <p:txBody>
          <a:bodyPr wrap="square" lIns="0" tIns="0" rIns="0" bIns="0" rtlCol="0" anchor="ctr">
            <a:noAutofit/>
          </a:bodyPr>
          <a:lstStyle/>
          <a:p>
            <a:pPr marL="0" indent="0" algn="ctr">
              <a:buNone/>
            </a:pPr>
            <a:r>
              <a:rPr lang="en-US" sz="2000" b="1" dirty="0">
                <a:solidFill>
                  <a:srgbClr val="123B63"/>
                </a:solidFill>
              </a:rPr>
              <a:t>GSM SMS</a:t>
            </a:r>
            <a:endParaRPr lang="en-US" sz="2000" dirty="0"/>
          </a:p>
        </p:txBody>
      </p:sp>
      <p:sp>
        <p:nvSpPr>
          <p:cNvPr id="15" name="Text 13"/>
          <p:cNvSpPr/>
          <p:nvPr/>
        </p:nvSpPr>
        <p:spPr>
          <a:xfrm>
            <a:off x="4288536" y="2578608"/>
            <a:ext cx="1453896" cy="655480"/>
          </a:xfrm>
          <a:prstGeom prst="rect">
            <a:avLst/>
          </a:prstGeom>
          <a:noFill/>
          <a:ln/>
        </p:spPr>
        <p:txBody>
          <a:bodyPr wrap="square" lIns="0" tIns="0" rIns="0" bIns="0" rtlCol="0" anchor="ctr">
            <a:noAutofit/>
          </a:bodyPr>
          <a:lstStyle/>
          <a:p>
            <a:pPr marL="0" indent="0" algn="ctr">
              <a:buNone/>
            </a:pPr>
            <a:r>
              <a:rPr lang="en-US" sz="1400" b="1" dirty="0">
                <a:solidFill>
                  <a:srgbClr val="425B71"/>
                </a:solidFill>
              </a:rPr>
              <a:t>Sends updates every 30 seconds</a:t>
            </a:r>
            <a:endParaRPr lang="en-US" sz="1400" b="1" dirty="0"/>
          </a:p>
        </p:txBody>
      </p:sp>
      <p:sp>
        <p:nvSpPr>
          <p:cNvPr id="16" name="Shape 14"/>
          <p:cNvSpPr/>
          <p:nvPr/>
        </p:nvSpPr>
        <p:spPr>
          <a:xfrm>
            <a:off x="5852160" y="2761488"/>
            <a:ext cx="173736" cy="0"/>
          </a:xfrm>
          <a:prstGeom prst="line">
            <a:avLst/>
          </a:prstGeom>
          <a:noFill/>
          <a:ln w="12700">
            <a:solidFill>
              <a:srgbClr val="7B93A8"/>
            </a:solidFill>
            <a:prstDash val="solid"/>
            <a:tailEnd type="triangle"/>
          </a:ln>
        </p:spPr>
      </p:sp>
      <p:sp>
        <p:nvSpPr>
          <p:cNvPr id="17" name="Shape 15"/>
          <p:cNvSpPr/>
          <p:nvPr/>
        </p:nvSpPr>
        <p:spPr>
          <a:xfrm>
            <a:off x="5980176" y="2148840"/>
            <a:ext cx="1874520" cy="1234440"/>
          </a:xfrm>
          <a:prstGeom prst="roundRect">
            <a:avLst>
              <a:gd name="adj" fmla="val 5926"/>
            </a:avLst>
          </a:prstGeom>
          <a:solidFill>
            <a:srgbClr val="F0F6FB"/>
          </a:solidFill>
          <a:ln w="12700">
            <a:solidFill>
              <a:srgbClr val="BFD0DE"/>
            </a:solidFill>
            <a:prstDash val="solid"/>
          </a:ln>
        </p:spPr>
        <p:txBody>
          <a:bodyPr/>
          <a:lstStyle/>
          <a:p>
            <a:endParaRPr lang="en-IN" dirty="0"/>
          </a:p>
        </p:txBody>
      </p:sp>
      <p:sp>
        <p:nvSpPr>
          <p:cNvPr id="18" name="Text 16"/>
          <p:cNvSpPr/>
          <p:nvPr/>
        </p:nvSpPr>
        <p:spPr>
          <a:xfrm>
            <a:off x="6053328" y="2304288"/>
            <a:ext cx="1728216" cy="219456"/>
          </a:xfrm>
          <a:prstGeom prst="rect">
            <a:avLst/>
          </a:prstGeom>
          <a:noFill/>
          <a:ln/>
        </p:spPr>
        <p:txBody>
          <a:bodyPr wrap="square" lIns="0" tIns="0" rIns="0" bIns="0" rtlCol="0" anchor="ctr">
            <a:noAutofit/>
          </a:bodyPr>
          <a:lstStyle/>
          <a:p>
            <a:pPr marL="0" indent="0" algn="ctr">
              <a:buNone/>
            </a:pPr>
            <a:r>
              <a:rPr lang="en-US" b="1" dirty="0">
                <a:solidFill>
                  <a:srgbClr val="123B63"/>
                </a:solidFill>
              </a:rPr>
              <a:t>Cloud IoT Panel</a:t>
            </a:r>
            <a:endParaRPr lang="en-US" dirty="0"/>
          </a:p>
        </p:txBody>
      </p:sp>
      <p:sp>
        <p:nvSpPr>
          <p:cNvPr id="19" name="Text 17"/>
          <p:cNvSpPr/>
          <p:nvPr/>
        </p:nvSpPr>
        <p:spPr>
          <a:xfrm>
            <a:off x="6053328" y="2578608"/>
            <a:ext cx="1728216" cy="411480"/>
          </a:xfrm>
          <a:prstGeom prst="rect">
            <a:avLst/>
          </a:prstGeom>
          <a:noFill/>
          <a:ln/>
        </p:spPr>
        <p:txBody>
          <a:bodyPr wrap="square" lIns="0" tIns="0" rIns="0" bIns="0" rtlCol="0" anchor="ctr">
            <a:normAutofit/>
          </a:bodyPr>
          <a:lstStyle/>
          <a:p>
            <a:pPr marL="0" indent="0" algn="ctr">
              <a:buNone/>
            </a:pPr>
            <a:r>
              <a:rPr lang="en-US" sz="1400" b="1" dirty="0">
                <a:solidFill>
                  <a:srgbClr val="425B71"/>
                </a:solidFill>
              </a:rPr>
              <a:t>Stores data online</a:t>
            </a:r>
            <a:endParaRPr lang="en-US" sz="1400" b="1" dirty="0"/>
          </a:p>
        </p:txBody>
      </p:sp>
      <p:sp>
        <p:nvSpPr>
          <p:cNvPr id="20" name="Shape 18"/>
          <p:cNvSpPr/>
          <p:nvPr/>
        </p:nvSpPr>
        <p:spPr>
          <a:xfrm>
            <a:off x="7891272" y="2761488"/>
            <a:ext cx="173736" cy="0"/>
          </a:xfrm>
          <a:prstGeom prst="line">
            <a:avLst/>
          </a:prstGeom>
          <a:noFill/>
          <a:ln w="12700">
            <a:solidFill>
              <a:srgbClr val="7B93A8"/>
            </a:solidFill>
            <a:prstDash val="solid"/>
            <a:tailEnd type="triangle"/>
          </a:ln>
        </p:spPr>
      </p:sp>
      <p:sp>
        <p:nvSpPr>
          <p:cNvPr id="21" name="Shape 19"/>
          <p:cNvSpPr/>
          <p:nvPr/>
        </p:nvSpPr>
        <p:spPr>
          <a:xfrm>
            <a:off x="8019288" y="2148840"/>
            <a:ext cx="2057400" cy="1234440"/>
          </a:xfrm>
          <a:prstGeom prst="roundRect">
            <a:avLst>
              <a:gd name="adj" fmla="val 5926"/>
            </a:avLst>
          </a:prstGeom>
          <a:solidFill>
            <a:srgbClr val="FFFFFF"/>
          </a:solidFill>
          <a:ln w="12700">
            <a:solidFill>
              <a:srgbClr val="BFD0DE"/>
            </a:solidFill>
            <a:prstDash val="solid"/>
          </a:ln>
        </p:spPr>
      </p:sp>
      <p:sp>
        <p:nvSpPr>
          <p:cNvPr id="22" name="Text 20"/>
          <p:cNvSpPr/>
          <p:nvPr/>
        </p:nvSpPr>
        <p:spPr>
          <a:xfrm>
            <a:off x="8092440" y="2304288"/>
            <a:ext cx="1911096" cy="219456"/>
          </a:xfrm>
          <a:prstGeom prst="rect">
            <a:avLst/>
          </a:prstGeom>
          <a:noFill/>
          <a:ln/>
        </p:spPr>
        <p:txBody>
          <a:bodyPr wrap="square" lIns="0" tIns="0" rIns="0" bIns="0" rtlCol="0" anchor="ctr">
            <a:noAutofit/>
          </a:bodyPr>
          <a:lstStyle/>
          <a:p>
            <a:pPr marL="0" indent="0" algn="ctr">
              <a:buNone/>
            </a:pPr>
            <a:r>
              <a:rPr lang="en-US" sz="2000" b="1" dirty="0">
                <a:solidFill>
                  <a:srgbClr val="123B63"/>
                </a:solidFill>
              </a:rPr>
              <a:t>Data Analysis</a:t>
            </a:r>
            <a:endParaRPr lang="en-US" sz="2000" dirty="0"/>
          </a:p>
        </p:txBody>
      </p:sp>
      <p:sp>
        <p:nvSpPr>
          <p:cNvPr id="23" name="Text 21"/>
          <p:cNvSpPr/>
          <p:nvPr/>
        </p:nvSpPr>
        <p:spPr>
          <a:xfrm>
            <a:off x="8092440" y="2578607"/>
            <a:ext cx="1911096" cy="804667"/>
          </a:xfrm>
          <a:prstGeom prst="rect">
            <a:avLst/>
          </a:prstGeom>
          <a:noFill/>
          <a:ln/>
        </p:spPr>
        <p:txBody>
          <a:bodyPr wrap="square" lIns="0" tIns="0" rIns="0" bIns="0" rtlCol="0" anchor="ctr">
            <a:noAutofit/>
          </a:bodyPr>
          <a:lstStyle/>
          <a:p>
            <a:pPr marL="0" indent="0" algn="ctr">
              <a:buNone/>
            </a:pPr>
            <a:r>
              <a:rPr lang="en-US" sz="1400" b="1" dirty="0">
                <a:solidFill>
                  <a:srgbClr val="425B71"/>
                </a:solidFill>
              </a:rPr>
              <a:t>CSV download, cleaning, scaling, and ML</a:t>
            </a:r>
            <a:endParaRPr lang="en-US" sz="1400" b="1" dirty="0"/>
          </a:p>
        </p:txBody>
      </p:sp>
      <p:sp>
        <p:nvSpPr>
          <p:cNvPr id="24" name="Shape 22"/>
          <p:cNvSpPr/>
          <p:nvPr/>
        </p:nvSpPr>
        <p:spPr>
          <a:xfrm>
            <a:off x="10113264" y="2761488"/>
            <a:ext cx="173736" cy="0"/>
          </a:xfrm>
          <a:prstGeom prst="line">
            <a:avLst/>
          </a:prstGeom>
          <a:noFill/>
          <a:ln w="12700">
            <a:solidFill>
              <a:srgbClr val="7B93A8"/>
            </a:solidFill>
            <a:prstDash val="solid"/>
            <a:tailEnd type="triangle"/>
          </a:ln>
        </p:spPr>
      </p:sp>
      <p:sp>
        <p:nvSpPr>
          <p:cNvPr id="25" name="Shape 23"/>
          <p:cNvSpPr/>
          <p:nvPr/>
        </p:nvSpPr>
        <p:spPr>
          <a:xfrm>
            <a:off x="10241280" y="2148840"/>
            <a:ext cx="1874520" cy="1234440"/>
          </a:xfrm>
          <a:prstGeom prst="roundRect">
            <a:avLst>
              <a:gd name="adj" fmla="val 5926"/>
            </a:avLst>
          </a:prstGeom>
          <a:solidFill>
            <a:srgbClr val="F0F6FB"/>
          </a:solidFill>
          <a:ln w="12700">
            <a:solidFill>
              <a:srgbClr val="BFD0DE"/>
            </a:solidFill>
            <a:prstDash val="solid"/>
          </a:ln>
        </p:spPr>
      </p:sp>
      <p:sp>
        <p:nvSpPr>
          <p:cNvPr id="26" name="Text 24"/>
          <p:cNvSpPr/>
          <p:nvPr/>
        </p:nvSpPr>
        <p:spPr>
          <a:xfrm>
            <a:off x="10241280" y="2304287"/>
            <a:ext cx="1801368" cy="365757"/>
          </a:xfrm>
          <a:prstGeom prst="rect">
            <a:avLst/>
          </a:prstGeom>
          <a:noFill/>
          <a:ln/>
        </p:spPr>
        <p:txBody>
          <a:bodyPr wrap="square" lIns="0" tIns="0" rIns="0" bIns="0" rtlCol="0" anchor="ctr">
            <a:noAutofit/>
          </a:bodyPr>
          <a:lstStyle/>
          <a:p>
            <a:pPr marL="0" indent="0" algn="ctr">
              <a:buNone/>
            </a:pPr>
            <a:r>
              <a:rPr lang="en-US" b="1" dirty="0">
                <a:solidFill>
                  <a:srgbClr val="123B63"/>
                </a:solidFill>
              </a:rPr>
              <a:t>Streamlit Dashboard</a:t>
            </a:r>
            <a:endParaRPr lang="en-US" dirty="0"/>
          </a:p>
        </p:txBody>
      </p:sp>
      <p:sp>
        <p:nvSpPr>
          <p:cNvPr id="27" name="Text 25"/>
          <p:cNvSpPr/>
          <p:nvPr/>
        </p:nvSpPr>
        <p:spPr>
          <a:xfrm>
            <a:off x="10314432" y="2578607"/>
            <a:ext cx="1728216" cy="859531"/>
          </a:xfrm>
          <a:prstGeom prst="rect">
            <a:avLst/>
          </a:prstGeom>
          <a:noFill/>
          <a:ln/>
        </p:spPr>
        <p:txBody>
          <a:bodyPr wrap="square" lIns="0" tIns="0" rIns="0" bIns="0" rtlCol="0" anchor="ctr">
            <a:noAutofit/>
          </a:bodyPr>
          <a:lstStyle/>
          <a:p>
            <a:pPr marL="0" indent="0" algn="ctr">
              <a:buNone/>
            </a:pPr>
            <a:r>
              <a:rPr lang="en-US" sz="1400" b="1" dirty="0">
                <a:solidFill>
                  <a:srgbClr val="425B71"/>
                </a:solidFill>
              </a:rPr>
              <a:t>Shows live status and alerts</a:t>
            </a:r>
            <a:endParaRPr lang="en-US" sz="1400" b="1" dirty="0"/>
          </a:p>
        </p:txBody>
      </p:sp>
      <p:sp>
        <p:nvSpPr>
          <p:cNvPr id="28" name="Shape 26"/>
          <p:cNvSpPr/>
          <p:nvPr/>
        </p:nvSpPr>
        <p:spPr>
          <a:xfrm>
            <a:off x="777240" y="4023360"/>
            <a:ext cx="5212080" cy="1417320"/>
          </a:xfrm>
          <a:prstGeom prst="roundRect">
            <a:avLst>
              <a:gd name="adj" fmla="val 7742"/>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9" name="Shape 27"/>
          <p:cNvSpPr/>
          <p:nvPr/>
        </p:nvSpPr>
        <p:spPr>
          <a:xfrm>
            <a:off x="777240" y="4023360"/>
            <a:ext cx="5212080" cy="109728"/>
          </a:xfrm>
          <a:prstGeom prst="rect">
            <a:avLst/>
          </a:prstGeom>
          <a:solidFill>
            <a:srgbClr val="2A9D8F"/>
          </a:solidFill>
          <a:ln w="12700">
            <a:solidFill>
              <a:srgbClr val="2A9D8F"/>
            </a:solidFill>
            <a:prstDash val="solid"/>
          </a:ln>
        </p:spPr>
      </p:sp>
      <p:sp>
        <p:nvSpPr>
          <p:cNvPr id="30" name="Text 28"/>
          <p:cNvSpPr/>
          <p:nvPr/>
        </p:nvSpPr>
        <p:spPr>
          <a:xfrm>
            <a:off x="941832" y="4187952"/>
            <a:ext cx="4882896" cy="256032"/>
          </a:xfrm>
          <a:prstGeom prst="rect">
            <a:avLst/>
          </a:prstGeom>
          <a:noFill/>
          <a:ln/>
        </p:spPr>
        <p:txBody>
          <a:bodyPr wrap="square" lIns="0" tIns="0" rIns="0" bIns="0" rtlCol="0" anchor="ctr"/>
          <a:lstStyle/>
          <a:p>
            <a:pPr marL="0" indent="0">
              <a:buNone/>
            </a:pPr>
            <a:r>
              <a:rPr lang="en-US" sz="2800" b="1" dirty="0">
                <a:solidFill>
                  <a:srgbClr val="123B63"/>
                </a:solidFill>
              </a:rPr>
              <a:t>Two response layers</a:t>
            </a:r>
            <a:endParaRPr lang="en-US" sz="2800" dirty="0"/>
          </a:p>
        </p:txBody>
      </p:sp>
      <p:sp>
        <p:nvSpPr>
          <p:cNvPr id="31" name="Text 29"/>
          <p:cNvSpPr/>
          <p:nvPr/>
        </p:nvSpPr>
        <p:spPr>
          <a:xfrm>
            <a:off x="941832" y="4498848"/>
            <a:ext cx="4882896" cy="850392"/>
          </a:xfrm>
          <a:prstGeom prst="rect">
            <a:avLst/>
          </a:prstGeom>
          <a:noFill/>
          <a:ln/>
        </p:spPr>
        <p:txBody>
          <a:bodyPr wrap="square" lIns="0" tIns="0" rIns="0" bIns="0" rtlCol="0" anchor="t">
            <a:normAutofit/>
          </a:bodyPr>
          <a:lstStyle/>
          <a:p>
            <a:pPr marL="0" indent="0">
              <a:buNone/>
            </a:pPr>
            <a:r>
              <a:rPr lang="en-US" sz="1600" b="1" dirty="0">
                <a:solidFill>
                  <a:srgbClr val="425B71"/>
                </a:solidFill>
              </a:rPr>
              <a:t>Local response: buzzer + LCD. Remote response: SMS + cloud storage + dashboard monitoring.</a:t>
            </a:r>
            <a:endParaRPr lang="en-US" sz="1600" b="1" dirty="0"/>
          </a:p>
        </p:txBody>
      </p:sp>
      <p:sp>
        <p:nvSpPr>
          <p:cNvPr id="32" name="Shape 30"/>
          <p:cNvSpPr/>
          <p:nvPr/>
        </p:nvSpPr>
        <p:spPr>
          <a:xfrm>
            <a:off x="6236208" y="4023360"/>
            <a:ext cx="5212080" cy="1417320"/>
          </a:xfrm>
          <a:prstGeom prst="roundRect">
            <a:avLst>
              <a:gd name="adj" fmla="val 7742"/>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33" name="Shape 31"/>
          <p:cNvSpPr/>
          <p:nvPr/>
        </p:nvSpPr>
        <p:spPr>
          <a:xfrm>
            <a:off x="6236208" y="4023360"/>
            <a:ext cx="5212080" cy="109728"/>
          </a:xfrm>
          <a:prstGeom prst="rect">
            <a:avLst/>
          </a:prstGeom>
          <a:solidFill>
            <a:srgbClr val="0F4C81"/>
          </a:solidFill>
          <a:ln w="12700">
            <a:solidFill>
              <a:srgbClr val="0F4C81"/>
            </a:solidFill>
            <a:prstDash val="solid"/>
          </a:ln>
        </p:spPr>
      </p:sp>
      <p:sp>
        <p:nvSpPr>
          <p:cNvPr id="34" name="Text 32"/>
          <p:cNvSpPr/>
          <p:nvPr/>
        </p:nvSpPr>
        <p:spPr>
          <a:xfrm>
            <a:off x="6400800" y="4187952"/>
            <a:ext cx="4882896" cy="256032"/>
          </a:xfrm>
          <a:prstGeom prst="rect">
            <a:avLst/>
          </a:prstGeom>
          <a:noFill/>
          <a:ln/>
        </p:spPr>
        <p:txBody>
          <a:bodyPr wrap="square" lIns="0" tIns="0" rIns="0" bIns="0" rtlCol="0" anchor="ctr"/>
          <a:lstStyle/>
          <a:p>
            <a:pPr marL="0" indent="0">
              <a:buNone/>
            </a:pPr>
            <a:r>
              <a:rPr lang="en-US" sz="2400" b="1" dirty="0">
                <a:solidFill>
                  <a:srgbClr val="123B63"/>
                </a:solidFill>
              </a:rPr>
              <a:t>Why this flow works</a:t>
            </a:r>
            <a:endParaRPr lang="en-US" sz="2400" dirty="0"/>
          </a:p>
        </p:txBody>
      </p:sp>
      <p:sp>
        <p:nvSpPr>
          <p:cNvPr id="35" name="Text 33"/>
          <p:cNvSpPr/>
          <p:nvPr/>
        </p:nvSpPr>
        <p:spPr>
          <a:xfrm>
            <a:off x="6400800" y="4498848"/>
            <a:ext cx="4882896" cy="850392"/>
          </a:xfrm>
          <a:prstGeom prst="rect">
            <a:avLst/>
          </a:prstGeom>
          <a:noFill/>
          <a:ln/>
        </p:spPr>
        <p:txBody>
          <a:bodyPr wrap="square" lIns="0" tIns="0" rIns="0" bIns="0" rtlCol="0" anchor="t">
            <a:normAutofit/>
          </a:bodyPr>
          <a:lstStyle/>
          <a:p>
            <a:pPr marL="0" indent="0">
              <a:buNone/>
            </a:pPr>
            <a:r>
              <a:rPr lang="en-US" sz="1600" b="1" dirty="0">
                <a:solidFill>
                  <a:srgbClr val="425B71"/>
                </a:solidFill>
              </a:rPr>
              <a:t>The device handles immediate monitoring, while the cloud and ML parts help with later analysis and anomaly detection.</a:t>
            </a:r>
            <a:endParaRPr lang="en-US"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200" b="1" dirty="0">
                <a:solidFill>
                  <a:srgbClr val="123B63"/>
                </a:solidFill>
                <a:latin typeface="Aptos Display" pitchFamily="34" charset="0"/>
                <a:ea typeface="Aptos Display" pitchFamily="34" charset="-122"/>
                <a:cs typeface="Aptos Display" pitchFamily="34" charset="-120"/>
              </a:rPr>
              <a:t>Machine Learning Pipeline</a:t>
            </a:r>
            <a:endParaRPr lang="en-US" sz="32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dirty="0">
                <a:solidFill>
                  <a:srgbClr val="4D647A"/>
                </a:solidFill>
              </a:rPr>
              <a:t>The model is unsupervised and focuses on finding unusual sensor patterns</a:t>
            </a:r>
            <a:endParaRPr lang="en-US" dirty="0"/>
          </a:p>
        </p:txBody>
      </p:sp>
      <p:sp>
        <p:nvSpPr>
          <p:cNvPr id="4" name="Shape 2"/>
          <p:cNvSpPr/>
          <p:nvPr/>
        </p:nvSpPr>
        <p:spPr>
          <a:xfrm>
            <a:off x="548640" y="1170432"/>
            <a:ext cx="11064240" cy="0"/>
          </a:xfrm>
          <a:prstGeom prst="line">
            <a:avLst/>
          </a:prstGeom>
          <a:noFill/>
          <a:ln w="12700">
            <a:solidFill>
              <a:srgbClr val="D6E1EA"/>
            </a:solidFill>
            <a:prstDash val="solid"/>
          </a:ln>
        </p:spPr>
      </p:sp>
      <p:sp>
        <p:nvSpPr>
          <p:cNvPr id="5" name="Shape 3"/>
          <p:cNvSpPr/>
          <p:nvPr/>
        </p:nvSpPr>
        <p:spPr>
          <a:xfrm>
            <a:off x="658368" y="1508760"/>
            <a:ext cx="1965960" cy="4480560"/>
          </a:xfrm>
          <a:prstGeom prst="roundRect">
            <a:avLst>
              <a:gd name="adj" fmla="val 558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6" name="Shape 4"/>
          <p:cNvSpPr/>
          <p:nvPr/>
        </p:nvSpPr>
        <p:spPr>
          <a:xfrm>
            <a:off x="658368" y="1508760"/>
            <a:ext cx="1965960" cy="109728"/>
          </a:xfrm>
          <a:prstGeom prst="rect">
            <a:avLst/>
          </a:prstGeom>
          <a:solidFill>
            <a:srgbClr val="0F4C81"/>
          </a:solidFill>
          <a:ln w="12700">
            <a:solidFill>
              <a:srgbClr val="0F4C81"/>
            </a:solidFill>
            <a:prstDash val="solid"/>
          </a:ln>
        </p:spPr>
      </p:sp>
      <p:sp>
        <p:nvSpPr>
          <p:cNvPr id="7" name="Text 5"/>
          <p:cNvSpPr/>
          <p:nvPr/>
        </p:nvSpPr>
        <p:spPr>
          <a:xfrm>
            <a:off x="822960" y="1673352"/>
            <a:ext cx="1636776" cy="710344"/>
          </a:xfrm>
          <a:prstGeom prst="rect">
            <a:avLst/>
          </a:prstGeom>
          <a:noFill/>
          <a:ln/>
        </p:spPr>
        <p:txBody>
          <a:bodyPr wrap="square" lIns="0" tIns="0" rIns="0" bIns="0" rtlCol="0" anchor="ctr"/>
          <a:lstStyle/>
          <a:p>
            <a:pPr marL="0" indent="0">
              <a:buNone/>
            </a:pPr>
            <a:r>
              <a:rPr lang="en-US" b="1" dirty="0">
                <a:solidFill>
                  <a:srgbClr val="123B63"/>
                </a:solidFill>
              </a:rPr>
              <a:t>1. Collect </a:t>
            </a:r>
            <a:r>
              <a:rPr lang="en-US" sz="2000" b="1" dirty="0">
                <a:solidFill>
                  <a:srgbClr val="123B63"/>
                </a:solidFill>
              </a:rPr>
              <a:t>Data</a:t>
            </a:r>
            <a:endParaRPr lang="en-US" sz="2000" dirty="0"/>
          </a:p>
        </p:txBody>
      </p:sp>
      <p:sp>
        <p:nvSpPr>
          <p:cNvPr id="8" name="Text 6"/>
          <p:cNvSpPr/>
          <p:nvPr/>
        </p:nvSpPr>
        <p:spPr>
          <a:xfrm>
            <a:off x="822960" y="2502568"/>
            <a:ext cx="1636776" cy="3395312"/>
          </a:xfrm>
          <a:prstGeom prst="rect">
            <a:avLst/>
          </a:prstGeom>
          <a:noFill/>
          <a:ln/>
        </p:spPr>
        <p:txBody>
          <a:bodyPr wrap="square" lIns="0" tIns="0" rIns="0" bIns="0" rtlCol="0" anchor="t">
            <a:normAutofit/>
          </a:bodyPr>
          <a:lstStyle/>
          <a:p>
            <a:pPr marL="0" indent="0">
              <a:buNone/>
            </a:pPr>
            <a:r>
              <a:rPr lang="en-US" dirty="0">
                <a:solidFill>
                  <a:srgbClr val="425B71"/>
                </a:solidFill>
              </a:rPr>
              <a:t>Sensor readings are stored in the IoT platform and downloaded as CSV for analysis.</a:t>
            </a:r>
            <a:endParaRPr lang="en-US" dirty="0"/>
          </a:p>
        </p:txBody>
      </p:sp>
      <p:sp>
        <p:nvSpPr>
          <p:cNvPr id="9" name="Shape 7"/>
          <p:cNvSpPr/>
          <p:nvPr/>
        </p:nvSpPr>
        <p:spPr>
          <a:xfrm>
            <a:off x="2788920" y="1508760"/>
            <a:ext cx="1965960" cy="4480560"/>
          </a:xfrm>
          <a:prstGeom prst="roundRect">
            <a:avLst>
              <a:gd name="adj" fmla="val 558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0" name="Shape 8"/>
          <p:cNvSpPr/>
          <p:nvPr/>
        </p:nvSpPr>
        <p:spPr>
          <a:xfrm>
            <a:off x="2788920" y="1508760"/>
            <a:ext cx="1965960" cy="109728"/>
          </a:xfrm>
          <a:prstGeom prst="rect">
            <a:avLst/>
          </a:prstGeom>
          <a:solidFill>
            <a:srgbClr val="1D7A8C"/>
          </a:solidFill>
          <a:ln w="12700">
            <a:solidFill>
              <a:srgbClr val="1D7A8C"/>
            </a:solidFill>
            <a:prstDash val="solid"/>
          </a:ln>
        </p:spPr>
      </p:sp>
      <p:sp>
        <p:nvSpPr>
          <p:cNvPr id="11" name="Text 9"/>
          <p:cNvSpPr/>
          <p:nvPr/>
        </p:nvSpPr>
        <p:spPr>
          <a:xfrm>
            <a:off x="2953512" y="1673352"/>
            <a:ext cx="1636776" cy="710344"/>
          </a:xfrm>
          <a:prstGeom prst="rect">
            <a:avLst/>
          </a:prstGeom>
          <a:noFill/>
          <a:ln/>
        </p:spPr>
        <p:txBody>
          <a:bodyPr wrap="square" lIns="0" tIns="0" rIns="0" bIns="0" rtlCol="0" anchor="ctr"/>
          <a:lstStyle/>
          <a:p>
            <a:pPr marL="0" indent="0">
              <a:buNone/>
            </a:pPr>
            <a:r>
              <a:rPr lang="en-US" sz="2000" b="1" dirty="0">
                <a:solidFill>
                  <a:srgbClr val="123B63"/>
                </a:solidFill>
              </a:rPr>
              <a:t>2. Clean Data</a:t>
            </a:r>
            <a:endParaRPr lang="en-US" sz="2000" dirty="0"/>
          </a:p>
        </p:txBody>
      </p:sp>
      <p:sp>
        <p:nvSpPr>
          <p:cNvPr id="12" name="Text 10"/>
          <p:cNvSpPr/>
          <p:nvPr/>
        </p:nvSpPr>
        <p:spPr>
          <a:xfrm>
            <a:off x="2953512" y="2502568"/>
            <a:ext cx="1636776" cy="3395311"/>
          </a:xfrm>
          <a:prstGeom prst="rect">
            <a:avLst/>
          </a:prstGeom>
          <a:noFill/>
          <a:ln/>
        </p:spPr>
        <p:txBody>
          <a:bodyPr wrap="square" lIns="0" tIns="0" rIns="0" bIns="0" rtlCol="0" anchor="t">
            <a:normAutofit/>
          </a:bodyPr>
          <a:lstStyle/>
          <a:p>
            <a:pPr marL="0" indent="0">
              <a:buNone/>
            </a:pPr>
            <a:r>
              <a:rPr lang="en-US" dirty="0">
                <a:solidFill>
                  <a:srgbClr val="425B71"/>
                </a:solidFill>
              </a:rPr>
              <a:t>Zero values are treated as invalid, converted to missing values, and filled using the median.</a:t>
            </a:r>
            <a:endParaRPr lang="en-US" dirty="0"/>
          </a:p>
        </p:txBody>
      </p:sp>
      <p:sp>
        <p:nvSpPr>
          <p:cNvPr id="13" name="Shape 11"/>
          <p:cNvSpPr/>
          <p:nvPr/>
        </p:nvSpPr>
        <p:spPr>
          <a:xfrm>
            <a:off x="4919472" y="1463040"/>
            <a:ext cx="1965960" cy="4480560"/>
          </a:xfrm>
          <a:prstGeom prst="roundRect">
            <a:avLst>
              <a:gd name="adj" fmla="val 558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txBody>
          <a:bodyPr/>
          <a:lstStyle/>
          <a:p>
            <a:endParaRPr lang="en-IN" dirty="0"/>
          </a:p>
        </p:txBody>
      </p:sp>
      <p:sp>
        <p:nvSpPr>
          <p:cNvPr id="14" name="Shape 12"/>
          <p:cNvSpPr/>
          <p:nvPr/>
        </p:nvSpPr>
        <p:spPr>
          <a:xfrm>
            <a:off x="4919472" y="1508760"/>
            <a:ext cx="1965960" cy="109728"/>
          </a:xfrm>
          <a:prstGeom prst="rect">
            <a:avLst/>
          </a:prstGeom>
          <a:solidFill>
            <a:srgbClr val="2A9D8F"/>
          </a:solidFill>
          <a:ln w="12700">
            <a:solidFill>
              <a:srgbClr val="2A9D8F"/>
            </a:solidFill>
            <a:prstDash val="solid"/>
          </a:ln>
        </p:spPr>
      </p:sp>
      <p:sp>
        <p:nvSpPr>
          <p:cNvPr id="15" name="Text 13"/>
          <p:cNvSpPr/>
          <p:nvPr/>
        </p:nvSpPr>
        <p:spPr>
          <a:xfrm>
            <a:off x="5084064" y="1673352"/>
            <a:ext cx="1636776" cy="710344"/>
          </a:xfrm>
          <a:prstGeom prst="rect">
            <a:avLst/>
          </a:prstGeom>
          <a:noFill/>
          <a:ln/>
        </p:spPr>
        <p:txBody>
          <a:bodyPr wrap="square" lIns="0" tIns="0" rIns="0" bIns="0" rtlCol="0" anchor="ctr"/>
          <a:lstStyle/>
          <a:p>
            <a:pPr marL="0" indent="0">
              <a:buNone/>
            </a:pPr>
            <a:r>
              <a:rPr lang="en-US" sz="2000" b="1" dirty="0">
                <a:solidFill>
                  <a:srgbClr val="123B63"/>
                </a:solidFill>
              </a:rPr>
              <a:t>3. Scale Data</a:t>
            </a:r>
            <a:endParaRPr lang="en-US" sz="2000" dirty="0"/>
          </a:p>
        </p:txBody>
      </p:sp>
      <p:sp>
        <p:nvSpPr>
          <p:cNvPr id="16" name="Text 14"/>
          <p:cNvSpPr/>
          <p:nvPr/>
        </p:nvSpPr>
        <p:spPr>
          <a:xfrm>
            <a:off x="5084064" y="2502568"/>
            <a:ext cx="1636776" cy="3395312"/>
          </a:xfrm>
          <a:prstGeom prst="rect">
            <a:avLst/>
          </a:prstGeom>
          <a:noFill/>
          <a:ln/>
        </p:spPr>
        <p:txBody>
          <a:bodyPr wrap="square" lIns="0" tIns="0" rIns="0" bIns="0" rtlCol="0" anchor="t">
            <a:normAutofit/>
          </a:bodyPr>
          <a:lstStyle/>
          <a:p>
            <a:pPr marL="0" indent="0">
              <a:buNone/>
            </a:pPr>
            <a:r>
              <a:rPr lang="en-US" dirty="0">
                <a:solidFill>
                  <a:srgbClr val="425B71"/>
                </a:solidFill>
              </a:rPr>
              <a:t>StandardScaler is used so all sensor features are compared on a similar scale.</a:t>
            </a:r>
            <a:endParaRPr lang="en-US" dirty="0"/>
          </a:p>
        </p:txBody>
      </p:sp>
      <p:sp>
        <p:nvSpPr>
          <p:cNvPr id="17" name="Shape 15"/>
          <p:cNvSpPr/>
          <p:nvPr/>
        </p:nvSpPr>
        <p:spPr>
          <a:xfrm>
            <a:off x="7050024" y="1468573"/>
            <a:ext cx="1965960" cy="4480560"/>
          </a:xfrm>
          <a:prstGeom prst="roundRect">
            <a:avLst>
              <a:gd name="adj" fmla="val 5581"/>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8" name="Shape 16"/>
          <p:cNvSpPr/>
          <p:nvPr/>
        </p:nvSpPr>
        <p:spPr>
          <a:xfrm>
            <a:off x="7050024" y="1508760"/>
            <a:ext cx="1965960" cy="109728"/>
          </a:xfrm>
          <a:prstGeom prst="rect">
            <a:avLst/>
          </a:prstGeom>
          <a:solidFill>
            <a:srgbClr val="0F4C81"/>
          </a:solidFill>
          <a:ln w="12700">
            <a:solidFill>
              <a:srgbClr val="0F4C81"/>
            </a:solidFill>
            <a:prstDash val="solid"/>
          </a:ln>
        </p:spPr>
      </p:sp>
      <p:sp>
        <p:nvSpPr>
          <p:cNvPr id="19" name="Text 17"/>
          <p:cNvSpPr/>
          <p:nvPr/>
        </p:nvSpPr>
        <p:spPr>
          <a:xfrm>
            <a:off x="7214616" y="1673352"/>
            <a:ext cx="1636776" cy="710344"/>
          </a:xfrm>
          <a:prstGeom prst="rect">
            <a:avLst/>
          </a:prstGeom>
          <a:noFill/>
          <a:ln/>
        </p:spPr>
        <p:txBody>
          <a:bodyPr wrap="square" lIns="0" tIns="0" rIns="0" bIns="0" rtlCol="0" anchor="ctr"/>
          <a:lstStyle/>
          <a:p>
            <a:pPr marL="0" indent="0">
              <a:buNone/>
            </a:pPr>
            <a:r>
              <a:rPr lang="en-US" sz="2000" b="1" dirty="0">
                <a:solidFill>
                  <a:srgbClr val="123B63"/>
                </a:solidFill>
              </a:rPr>
              <a:t>4. Train Model</a:t>
            </a:r>
            <a:endParaRPr lang="en-US" sz="2000" dirty="0"/>
          </a:p>
        </p:txBody>
      </p:sp>
      <p:sp>
        <p:nvSpPr>
          <p:cNvPr id="20" name="Text 18"/>
          <p:cNvSpPr/>
          <p:nvPr/>
        </p:nvSpPr>
        <p:spPr>
          <a:xfrm>
            <a:off x="7214616" y="2502568"/>
            <a:ext cx="1636776" cy="3395312"/>
          </a:xfrm>
          <a:prstGeom prst="rect">
            <a:avLst/>
          </a:prstGeom>
          <a:noFill/>
          <a:ln/>
        </p:spPr>
        <p:txBody>
          <a:bodyPr wrap="square" lIns="0" tIns="0" rIns="0" bIns="0" rtlCol="0" anchor="t">
            <a:normAutofit/>
          </a:bodyPr>
          <a:lstStyle/>
          <a:p>
            <a:pPr marL="0" indent="0">
              <a:buNone/>
            </a:pPr>
            <a:r>
              <a:rPr lang="en-US" dirty="0">
                <a:solidFill>
                  <a:srgbClr val="425B71"/>
                </a:solidFill>
              </a:rPr>
              <a:t>Isolation Forest learns the normal pattern of readings.</a:t>
            </a:r>
            <a:endParaRPr lang="en-US" dirty="0"/>
          </a:p>
        </p:txBody>
      </p:sp>
      <p:sp>
        <p:nvSpPr>
          <p:cNvPr id="21" name="Shape 19"/>
          <p:cNvSpPr/>
          <p:nvPr/>
        </p:nvSpPr>
        <p:spPr>
          <a:xfrm>
            <a:off x="9180576" y="1508760"/>
            <a:ext cx="2331720" cy="4480560"/>
          </a:xfrm>
          <a:prstGeom prst="roundRect">
            <a:avLst>
              <a:gd name="adj" fmla="val 4706"/>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2" name="Shape 20"/>
          <p:cNvSpPr/>
          <p:nvPr/>
        </p:nvSpPr>
        <p:spPr>
          <a:xfrm>
            <a:off x="9180576" y="1508760"/>
            <a:ext cx="2331720" cy="109728"/>
          </a:xfrm>
          <a:prstGeom prst="rect">
            <a:avLst/>
          </a:prstGeom>
          <a:solidFill>
            <a:srgbClr val="D9534F"/>
          </a:solidFill>
          <a:ln w="12700">
            <a:solidFill>
              <a:srgbClr val="D9534F"/>
            </a:solidFill>
            <a:prstDash val="solid"/>
          </a:ln>
        </p:spPr>
      </p:sp>
      <p:sp>
        <p:nvSpPr>
          <p:cNvPr id="23" name="Text 21"/>
          <p:cNvSpPr/>
          <p:nvPr/>
        </p:nvSpPr>
        <p:spPr>
          <a:xfrm>
            <a:off x="9345168" y="1673352"/>
            <a:ext cx="2002536" cy="710344"/>
          </a:xfrm>
          <a:prstGeom prst="rect">
            <a:avLst/>
          </a:prstGeom>
          <a:noFill/>
          <a:ln/>
        </p:spPr>
        <p:txBody>
          <a:bodyPr wrap="square" lIns="0" tIns="0" rIns="0" bIns="0" rtlCol="0" anchor="ctr"/>
          <a:lstStyle/>
          <a:p>
            <a:pPr marL="0" indent="0">
              <a:buNone/>
            </a:pPr>
            <a:r>
              <a:rPr lang="en-US" sz="2000" b="1" dirty="0">
                <a:solidFill>
                  <a:srgbClr val="123B63"/>
                </a:solidFill>
              </a:rPr>
              <a:t>5. Predict Status</a:t>
            </a:r>
            <a:endParaRPr lang="en-US" sz="2000" dirty="0"/>
          </a:p>
        </p:txBody>
      </p:sp>
      <p:sp>
        <p:nvSpPr>
          <p:cNvPr id="24" name="Text 22"/>
          <p:cNvSpPr/>
          <p:nvPr/>
        </p:nvSpPr>
        <p:spPr>
          <a:xfrm>
            <a:off x="9345168" y="2502568"/>
            <a:ext cx="2002536" cy="3395312"/>
          </a:xfrm>
          <a:prstGeom prst="rect">
            <a:avLst/>
          </a:prstGeom>
          <a:noFill/>
          <a:ln/>
        </p:spPr>
        <p:txBody>
          <a:bodyPr wrap="square" lIns="0" tIns="0" rIns="0" bIns="0" rtlCol="0" anchor="t">
            <a:normAutofit/>
          </a:bodyPr>
          <a:lstStyle/>
          <a:p>
            <a:pPr marL="0" indent="0">
              <a:buNone/>
            </a:pPr>
            <a:r>
              <a:rPr lang="en-US" dirty="0">
                <a:solidFill>
                  <a:srgbClr val="425B71"/>
                </a:solidFill>
              </a:rPr>
              <a:t>The dashboard converts the model output into a clear label.</a:t>
            </a:r>
            <a:endParaRPr lang="en-US" dirty="0"/>
          </a:p>
        </p:txBody>
      </p:sp>
      <p:sp>
        <p:nvSpPr>
          <p:cNvPr id="25" name="Text 23"/>
          <p:cNvSpPr/>
          <p:nvPr/>
        </p:nvSpPr>
        <p:spPr>
          <a:xfrm>
            <a:off x="1143000" y="6108192"/>
            <a:ext cx="9875520" cy="228600"/>
          </a:xfrm>
          <a:prstGeom prst="rect">
            <a:avLst/>
          </a:prstGeom>
          <a:noFill/>
          <a:ln/>
        </p:spPr>
        <p:txBody>
          <a:bodyPr wrap="square" lIns="0" tIns="0" rIns="0" bIns="0" rtlCol="0" anchor="ctr"/>
          <a:lstStyle/>
          <a:p>
            <a:pPr marL="0" indent="0" algn="ctr">
              <a:buNone/>
            </a:pPr>
            <a:r>
              <a:rPr lang="en-US" sz="2200" b="1" dirty="0">
                <a:solidFill>
                  <a:srgbClr val="123B63"/>
                </a:solidFill>
              </a:rPr>
              <a:t>Features used: BPM, SPO2, Body_Temp, Ambient_Temp, Humidity</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200" b="1" dirty="0">
                <a:solidFill>
                  <a:srgbClr val="123B63"/>
                </a:solidFill>
                <a:latin typeface="Aptos Display" pitchFamily="34" charset="0"/>
                <a:ea typeface="Aptos Display" pitchFamily="34" charset="-122"/>
                <a:cs typeface="Aptos Display" pitchFamily="34" charset="-120"/>
              </a:rPr>
              <a:t>Streamlit Dashboard</a:t>
            </a:r>
            <a:endParaRPr lang="en-US" sz="32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dirty="0">
                <a:solidFill>
                  <a:srgbClr val="4D647A"/>
                </a:solidFill>
              </a:rPr>
              <a:t>What the user sees after the CSV is processed</a:t>
            </a:r>
            <a:endParaRPr lang="en-US" dirty="0"/>
          </a:p>
        </p:txBody>
      </p:sp>
      <p:sp>
        <p:nvSpPr>
          <p:cNvPr id="4" name="Shape 2"/>
          <p:cNvSpPr/>
          <p:nvPr/>
        </p:nvSpPr>
        <p:spPr>
          <a:xfrm>
            <a:off x="548640" y="1170432"/>
            <a:ext cx="11064240" cy="0"/>
          </a:xfrm>
          <a:prstGeom prst="line">
            <a:avLst/>
          </a:prstGeom>
          <a:noFill/>
          <a:ln w="12700">
            <a:solidFill>
              <a:srgbClr val="D6E1EA"/>
            </a:solidFill>
            <a:prstDash val="solid"/>
          </a:ln>
        </p:spPr>
      </p:sp>
      <p:sp>
        <p:nvSpPr>
          <p:cNvPr id="5" name="Shape 3"/>
          <p:cNvSpPr/>
          <p:nvPr/>
        </p:nvSpPr>
        <p:spPr>
          <a:xfrm>
            <a:off x="640080" y="1554480"/>
            <a:ext cx="3657600" cy="4480560"/>
          </a:xfrm>
          <a:prstGeom prst="roundRect">
            <a:avLst>
              <a:gd name="adj" fmla="val 3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6" name="Shape 4"/>
          <p:cNvSpPr/>
          <p:nvPr/>
        </p:nvSpPr>
        <p:spPr>
          <a:xfrm>
            <a:off x="640080" y="1554480"/>
            <a:ext cx="3657600" cy="109728"/>
          </a:xfrm>
          <a:prstGeom prst="rect">
            <a:avLst/>
          </a:prstGeom>
          <a:solidFill>
            <a:srgbClr val="0F4C81"/>
          </a:solidFill>
          <a:ln w="12700">
            <a:solidFill>
              <a:srgbClr val="0F4C81"/>
            </a:solidFill>
            <a:prstDash val="solid"/>
          </a:ln>
        </p:spPr>
      </p:sp>
      <p:sp>
        <p:nvSpPr>
          <p:cNvPr id="7" name="Text 5"/>
          <p:cNvSpPr/>
          <p:nvPr/>
        </p:nvSpPr>
        <p:spPr>
          <a:xfrm>
            <a:off x="804672" y="1719072"/>
            <a:ext cx="3328416" cy="256032"/>
          </a:xfrm>
          <a:prstGeom prst="rect">
            <a:avLst/>
          </a:prstGeom>
          <a:noFill/>
          <a:ln/>
        </p:spPr>
        <p:txBody>
          <a:bodyPr wrap="square" lIns="0" tIns="0" rIns="0" bIns="0" rtlCol="0" anchor="ctr"/>
          <a:lstStyle/>
          <a:p>
            <a:pPr marL="0" indent="0">
              <a:buNone/>
            </a:pPr>
            <a:r>
              <a:rPr lang="en-US" sz="2400" b="1" dirty="0">
                <a:solidFill>
                  <a:srgbClr val="123B63"/>
                </a:solidFill>
              </a:rPr>
              <a:t>Live monitoring view</a:t>
            </a:r>
            <a:endParaRPr lang="en-US" sz="2400" dirty="0"/>
          </a:p>
        </p:txBody>
      </p:sp>
      <p:sp>
        <p:nvSpPr>
          <p:cNvPr id="8" name="Text 6"/>
          <p:cNvSpPr/>
          <p:nvPr/>
        </p:nvSpPr>
        <p:spPr>
          <a:xfrm>
            <a:off x="804672" y="2359150"/>
            <a:ext cx="3328416" cy="3584449"/>
          </a:xfrm>
          <a:prstGeom prst="rect">
            <a:avLst/>
          </a:prstGeom>
          <a:noFill/>
          <a:ln/>
        </p:spPr>
        <p:txBody>
          <a:bodyPr wrap="square" lIns="0" tIns="0" rIns="0" bIns="0" rtlCol="0" anchor="t">
            <a:normAutofit/>
          </a:bodyPr>
          <a:lstStyle/>
          <a:p>
            <a:pPr marL="0" indent="0">
              <a:buNone/>
            </a:pPr>
            <a:r>
              <a:rPr lang="en-US" dirty="0">
                <a:solidFill>
                  <a:srgbClr val="425B71"/>
                </a:solidFill>
              </a:rPr>
              <a:t>The dashboard reads the latest values from the CSV file and shows the current BPM, SPO2, temperature, and humidity readings in a readable format.</a:t>
            </a:r>
            <a:endParaRPr lang="en-US" dirty="0"/>
          </a:p>
        </p:txBody>
      </p:sp>
      <p:sp>
        <p:nvSpPr>
          <p:cNvPr id="9" name="Shape 7"/>
          <p:cNvSpPr/>
          <p:nvPr/>
        </p:nvSpPr>
        <p:spPr>
          <a:xfrm>
            <a:off x="4590288" y="1554480"/>
            <a:ext cx="3337560" cy="4480560"/>
          </a:xfrm>
          <a:prstGeom prst="roundRect">
            <a:avLst>
              <a:gd name="adj" fmla="val 3288"/>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0" name="Shape 8"/>
          <p:cNvSpPr/>
          <p:nvPr/>
        </p:nvSpPr>
        <p:spPr>
          <a:xfrm>
            <a:off x="4590288" y="1554480"/>
            <a:ext cx="3337560" cy="109728"/>
          </a:xfrm>
          <a:prstGeom prst="rect">
            <a:avLst/>
          </a:prstGeom>
          <a:solidFill>
            <a:srgbClr val="2A9D8F"/>
          </a:solidFill>
          <a:ln w="12700">
            <a:solidFill>
              <a:srgbClr val="2A9D8F"/>
            </a:solidFill>
            <a:prstDash val="solid"/>
          </a:ln>
        </p:spPr>
      </p:sp>
      <p:sp>
        <p:nvSpPr>
          <p:cNvPr id="11" name="Text 9"/>
          <p:cNvSpPr/>
          <p:nvPr/>
        </p:nvSpPr>
        <p:spPr>
          <a:xfrm>
            <a:off x="4754880" y="1719072"/>
            <a:ext cx="3008376" cy="256032"/>
          </a:xfrm>
          <a:prstGeom prst="rect">
            <a:avLst/>
          </a:prstGeom>
          <a:noFill/>
          <a:ln/>
        </p:spPr>
        <p:txBody>
          <a:bodyPr wrap="square" lIns="0" tIns="0" rIns="0" bIns="0" rtlCol="0" anchor="ctr"/>
          <a:lstStyle/>
          <a:p>
            <a:pPr marL="0" indent="0">
              <a:buNone/>
            </a:pPr>
            <a:r>
              <a:rPr lang="en-US" sz="2400" b="1" dirty="0">
                <a:solidFill>
                  <a:srgbClr val="123B63"/>
                </a:solidFill>
              </a:rPr>
              <a:t>Status display</a:t>
            </a:r>
            <a:endParaRPr lang="en-US" sz="2400" dirty="0"/>
          </a:p>
        </p:txBody>
      </p:sp>
      <p:sp>
        <p:nvSpPr>
          <p:cNvPr id="12" name="Text 10"/>
          <p:cNvSpPr/>
          <p:nvPr/>
        </p:nvSpPr>
        <p:spPr>
          <a:xfrm>
            <a:off x="4754880" y="2359150"/>
            <a:ext cx="3008376" cy="3584450"/>
          </a:xfrm>
          <a:prstGeom prst="rect">
            <a:avLst/>
          </a:prstGeom>
          <a:noFill/>
          <a:ln/>
        </p:spPr>
        <p:txBody>
          <a:bodyPr wrap="square" lIns="0" tIns="0" rIns="0" bIns="0" rtlCol="0" anchor="t">
            <a:normAutofit/>
          </a:bodyPr>
          <a:lstStyle/>
          <a:p>
            <a:pPr marL="0" indent="0">
              <a:buNone/>
            </a:pPr>
            <a:r>
              <a:rPr lang="en-US" dirty="0">
                <a:solidFill>
                  <a:srgbClr val="425B71"/>
                </a:solidFill>
              </a:rPr>
              <a:t>Each record is marked as Normal or Abnormal based on the Isolation Forest prediction. This makes the result easy to understand.</a:t>
            </a:r>
            <a:endParaRPr lang="en-US" dirty="0"/>
          </a:p>
        </p:txBody>
      </p:sp>
      <p:sp>
        <p:nvSpPr>
          <p:cNvPr id="13" name="Shape 11"/>
          <p:cNvSpPr/>
          <p:nvPr/>
        </p:nvSpPr>
        <p:spPr>
          <a:xfrm>
            <a:off x="8220456" y="1554480"/>
            <a:ext cx="3337560" cy="4480560"/>
          </a:xfrm>
          <a:prstGeom prst="roundRect">
            <a:avLst>
              <a:gd name="adj" fmla="val 3288"/>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4" name="Shape 12"/>
          <p:cNvSpPr/>
          <p:nvPr/>
        </p:nvSpPr>
        <p:spPr>
          <a:xfrm>
            <a:off x="8220456" y="1554480"/>
            <a:ext cx="3337560" cy="109728"/>
          </a:xfrm>
          <a:prstGeom prst="rect">
            <a:avLst/>
          </a:prstGeom>
          <a:solidFill>
            <a:srgbClr val="1D7A8C"/>
          </a:solidFill>
          <a:ln w="12700">
            <a:solidFill>
              <a:srgbClr val="1D7A8C"/>
            </a:solidFill>
            <a:prstDash val="solid"/>
          </a:ln>
        </p:spPr>
      </p:sp>
      <p:sp>
        <p:nvSpPr>
          <p:cNvPr id="15" name="Text 13"/>
          <p:cNvSpPr/>
          <p:nvPr/>
        </p:nvSpPr>
        <p:spPr>
          <a:xfrm>
            <a:off x="8385048" y="1719072"/>
            <a:ext cx="3008376" cy="256032"/>
          </a:xfrm>
          <a:prstGeom prst="rect">
            <a:avLst/>
          </a:prstGeom>
          <a:noFill/>
          <a:ln/>
        </p:spPr>
        <p:txBody>
          <a:bodyPr wrap="square" lIns="0" tIns="0" rIns="0" bIns="0" rtlCol="0" anchor="ctr"/>
          <a:lstStyle/>
          <a:p>
            <a:pPr marL="0" indent="0">
              <a:buNone/>
            </a:pPr>
            <a:r>
              <a:rPr lang="en-US" sz="2400" b="1" dirty="0">
                <a:solidFill>
                  <a:srgbClr val="123B63"/>
                </a:solidFill>
              </a:rPr>
              <a:t>Useful for review</a:t>
            </a:r>
            <a:endParaRPr lang="en-US" sz="2400" dirty="0"/>
          </a:p>
        </p:txBody>
      </p:sp>
      <p:sp>
        <p:nvSpPr>
          <p:cNvPr id="16" name="Text 14"/>
          <p:cNvSpPr/>
          <p:nvPr/>
        </p:nvSpPr>
        <p:spPr>
          <a:xfrm>
            <a:off x="8385048" y="2359150"/>
            <a:ext cx="3008376" cy="3584450"/>
          </a:xfrm>
          <a:prstGeom prst="rect">
            <a:avLst/>
          </a:prstGeom>
          <a:noFill/>
          <a:ln/>
        </p:spPr>
        <p:txBody>
          <a:bodyPr wrap="square" lIns="0" tIns="0" rIns="0" bIns="0" rtlCol="0" anchor="t">
            <a:normAutofit/>
          </a:bodyPr>
          <a:lstStyle/>
          <a:p>
            <a:pPr marL="0" indent="0">
              <a:buNone/>
            </a:pPr>
            <a:r>
              <a:rPr lang="en-US" dirty="0">
                <a:solidFill>
                  <a:srgbClr val="425B71"/>
                </a:solidFill>
              </a:rPr>
              <a:t>Doctors or users can quickly look at trends, export data, and compare readings over time instead of checking raw sensor logs manually.</a:t>
            </a:r>
            <a:endParaRPr lang="en-US" dirty="0"/>
          </a:p>
        </p:txBody>
      </p:sp>
      <p:sp>
        <p:nvSpPr>
          <p:cNvPr id="17" name="Text 15"/>
          <p:cNvSpPr/>
          <p:nvPr/>
        </p:nvSpPr>
        <p:spPr>
          <a:xfrm>
            <a:off x="1005840" y="6144768"/>
            <a:ext cx="10149840" cy="201168"/>
          </a:xfrm>
          <a:prstGeom prst="rect">
            <a:avLst/>
          </a:prstGeom>
          <a:noFill/>
          <a:ln/>
        </p:spPr>
        <p:txBody>
          <a:bodyPr wrap="square" lIns="0" tIns="0" rIns="0" bIns="0" rtlCol="0" anchor="ctr"/>
          <a:lstStyle/>
          <a:p>
            <a:pPr marL="0" indent="0" algn="ctr">
              <a:buNone/>
            </a:pPr>
            <a:r>
              <a:rPr lang="en-US" sz="2000" b="1" dirty="0">
                <a:solidFill>
                  <a:srgbClr val="123B63"/>
                </a:solidFill>
              </a:rPr>
              <a:t>Flow inside the app: CSV → clean data → scale → predict → show result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200" b="1" dirty="0">
                <a:solidFill>
                  <a:srgbClr val="123B63"/>
                </a:solidFill>
                <a:latin typeface="Aptos Display" pitchFamily="34" charset="0"/>
                <a:ea typeface="Aptos Display" pitchFamily="34" charset="-122"/>
                <a:cs typeface="Aptos Display" pitchFamily="34" charset="-120"/>
              </a:rPr>
              <a:t>Key Advantages</a:t>
            </a:r>
            <a:endParaRPr lang="en-US" sz="32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dirty="0">
                <a:solidFill>
                  <a:srgbClr val="4D647A"/>
                </a:solidFill>
              </a:rPr>
              <a:t>Why this prototype is practical and scalable</a:t>
            </a:r>
            <a:endParaRPr lang="en-US" dirty="0"/>
          </a:p>
        </p:txBody>
      </p:sp>
      <p:sp>
        <p:nvSpPr>
          <p:cNvPr id="4" name="Shape 2"/>
          <p:cNvSpPr/>
          <p:nvPr/>
        </p:nvSpPr>
        <p:spPr>
          <a:xfrm>
            <a:off x="548640" y="1170432"/>
            <a:ext cx="11064240" cy="0"/>
          </a:xfrm>
          <a:prstGeom prst="line">
            <a:avLst/>
          </a:prstGeom>
          <a:noFill/>
          <a:ln w="12700">
            <a:solidFill>
              <a:srgbClr val="D6E1EA"/>
            </a:solidFill>
            <a:prstDash val="solid"/>
          </a:ln>
        </p:spPr>
      </p:sp>
      <p:sp>
        <p:nvSpPr>
          <p:cNvPr id="5" name="Shape 3"/>
          <p:cNvSpPr/>
          <p:nvPr/>
        </p:nvSpPr>
        <p:spPr>
          <a:xfrm>
            <a:off x="658368" y="1554480"/>
            <a:ext cx="2743200" cy="1828800"/>
          </a:xfrm>
          <a:prstGeom prst="roundRect">
            <a:avLst>
              <a:gd name="adj" fmla="val 6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6" name="Shape 4"/>
          <p:cNvSpPr/>
          <p:nvPr/>
        </p:nvSpPr>
        <p:spPr>
          <a:xfrm>
            <a:off x="658368" y="1554480"/>
            <a:ext cx="2743200" cy="109728"/>
          </a:xfrm>
          <a:prstGeom prst="rect">
            <a:avLst/>
          </a:prstGeom>
          <a:solidFill>
            <a:srgbClr val="0F4C81"/>
          </a:solidFill>
          <a:ln w="12700">
            <a:solidFill>
              <a:srgbClr val="0F4C81"/>
            </a:solidFill>
            <a:prstDash val="solid"/>
          </a:ln>
        </p:spPr>
      </p:sp>
      <p:sp>
        <p:nvSpPr>
          <p:cNvPr id="7" name="Text 5"/>
          <p:cNvSpPr/>
          <p:nvPr/>
        </p:nvSpPr>
        <p:spPr>
          <a:xfrm>
            <a:off x="740664" y="1719072"/>
            <a:ext cx="2578608" cy="393192"/>
          </a:xfrm>
          <a:prstGeom prst="rect">
            <a:avLst/>
          </a:prstGeom>
          <a:noFill/>
          <a:ln/>
        </p:spPr>
        <p:txBody>
          <a:bodyPr wrap="square" lIns="0" tIns="0" rIns="0" bIns="0" rtlCol="0" anchor="ctr"/>
          <a:lstStyle/>
          <a:p>
            <a:pPr marL="0" indent="0">
              <a:buNone/>
            </a:pPr>
            <a:r>
              <a:rPr lang="en-US" sz="2000" b="1" dirty="0">
                <a:solidFill>
                  <a:srgbClr val="123B63"/>
                </a:solidFill>
              </a:rPr>
              <a:t>Real-time monitoring</a:t>
            </a:r>
            <a:endParaRPr lang="en-US" sz="2000" dirty="0"/>
          </a:p>
        </p:txBody>
      </p:sp>
      <p:sp>
        <p:nvSpPr>
          <p:cNvPr id="8" name="Text 6"/>
          <p:cNvSpPr/>
          <p:nvPr/>
        </p:nvSpPr>
        <p:spPr>
          <a:xfrm>
            <a:off x="822960" y="2167128"/>
            <a:ext cx="2414016" cy="1124712"/>
          </a:xfrm>
          <a:prstGeom prst="rect">
            <a:avLst/>
          </a:prstGeom>
          <a:noFill/>
          <a:ln/>
        </p:spPr>
        <p:txBody>
          <a:bodyPr wrap="square" lIns="0" tIns="0" rIns="0" bIns="0" rtlCol="0" anchor="t">
            <a:normAutofit/>
          </a:bodyPr>
          <a:lstStyle/>
          <a:p>
            <a:pPr marL="0" indent="0">
              <a:buNone/>
            </a:pPr>
            <a:r>
              <a:rPr lang="en-US" sz="1600" dirty="0">
                <a:solidFill>
                  <a:srgbClr val="425B71"/>
                </a:solidFill>
              </a:rPr>
              <a:t>Sensor data is captured continuously instead of being checked only once in a while.</a:t>
            </a:r>
            <a:endParaRPr lang="en-US" sz="1600" dirty="0"/>
          </a:p>
        </p:txBody>
      </p:sp>
      <p:sp>
        <p:nvSpPr>
          <p:cNvPr id="9" name="Shape 7"/>
          <p:cNvSpPr/>
          <p:nvPr/>
        </p:nvSpPr>
        <p:spPr>
          <a:xfrm>
            <a:off x="3566160" y="1554480"/>
            <a:ext cx="2743200" cy="1828800"/>
          </a:xfrm>
          <a:prstGeom prst="roundRect">
            <a:avLst>
              <a:gd name="adj" fmla="val 6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0" name="Shape 8"/>
          <p:cNvSpPr/>
          <p:nvPr/>
        </p:nvSpPr>
        <p:spPr>
          <a:xfrm>
            <a:off x="3566160" y="1554480"/>
            <a:ext cx="2743200" cy="109728"/>
          </a:xfrm>
          <a:prstGeom prst="rect">
            <a:avLst/>
          </a:prstGeom>
          <a:solidFill>
            <a:srgbClr val="D9534F"/>
          </a:solidFill>
          <a:ln w="12700">
            <a:solidFill>
              <a:srgbClr val="D9534F"/>
            </a:solidFill>
            <a:prstDash val="solid"/>
          </a:ln>
        </p:spPr>
      </p:sp>
      <p:sp>
        <p:nvSpPr>
          <p:cNvPr id="11" name="Text 9"/>
          <p:cNvSpPr/>
          <p:nvPr/>
        </p:nvSpPr>
        <p:spPr>
          <a:xfrm>
            <a:off x="3730752" y="1755648"/>
            <a:ext cx="2414016" cy="256032"/>
          </a:xfrm>
          <a:prstGeom prst="rect">
            <a:avLst/>
          </a:prstGeom>
          <a:noFill/>
          <a:ln/>
        </p:spPr>
        <p:txBody>
          <a:bodyPr wrap="square" lIns="0" tIns="0" rIns="0" bIns="0" rtlCol="0" anchor="ctr"/>
          <a:lstStyle/>
          <a:p>
            <a:pPr marL="0" indent="0">
              <a:buNone/>
            </a:pPr>
            <a:r>
              <a:rPr lang="en-US" sz="2000" b="1" dirty="0">
                <a:solidFill>
                  <a:srgbClr val="123B63"/>
                </a:solidFill>
              </a:rPr>
              <a:t>Early warning</a:t>
            </a:r>
            <a:endParaRPr lang="en-US" sz="2000" dirty="0"/>
          </a:p>
        </p:txBody>
      </p:sp>
      <p:sp>
        <p:nvSpPr>
          <p:cNvPr id="12" name="Text 10"/>
          <p:cNvSpPr/>
          <p:nvPr/>
        </p:nvSpPr>
        <p:spPr>
          <a:xfrm>
            <a:off x="3730752" y="2167128"/>
            <a:ext cx="2414016" cy="1124712"/>
          </a:xfrm>
          <a:prstGeom prst="rect">
            <a:avLst/>
          </a:prstGeom>
          <a:noFill/>
          <a:ln/>
        </p:spPr>
        <p:txBody>
          <a:bodyPr wrap="square" lIns="0" tIns="0" rIns="0" bIns="0" rtlCol="0" anchor="t">
            <a:normAutofit/>
          </a:bodyPr>
          <a:lstStyle/>
          <a:p>
            <a:pPr marL="0" indent="0">
              <a:buNone/>
            </a:pPr>
            <a:r>
              <a:rPr lang="en-US" sz="1600" dirty="0">
                <a:solidFill>
                  <a:srgbClr val="425B71"/>
                </a:solidFill>
              </a:rPr>
              <a:t>Local buzzer and GSM alerts help users react quickly to abnormal readings.</a:t>
            </a:r>
            <a:endParaRPr lang="en-US" sz="1600" dirty="0"/>
          </a:p>
        </p:txBody>
      </p:sp>
      <p:sp>
        <p:nvSpPr>
          <p:cNvPr id="13" name="Shape 11"/>
          <p:cNvSpPr/>
          <p:nvPr/>
        </p:nvSpPr>
        <p:spPr>
          <a:xfrm>
            <a:off x="6473952" y="1554480"/>
            <a:ext cx="2743200" cy="1828800"/>
          </a:xfrm>
          <a:prstGeom prst="roundRect">
            <a:avLst>
              <a:gd name="adj" fmla="val 6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4" name="Shape 12"/>
          <p:cNvSpPr/>
          <p:nvPr/>
        </p:nvSpPr>
        <p:spPr>
          <a:xfrm>
            <a:off x="6473952" y="1554480"/>
            <a:ext cx="2743200" cy="109728"/>
          </a:xfrm>
          <a:prstGeom prst="rect">
            <a:avLst/>
          </a:prstGeom>
          <a:solidFill>
            <a:srgbClr val="1D7A8C"/>
          </a:solidFill>
          <a:ln w="12700">
            <a:solidFill>
              <a:srgbClr val="1D7A8C"/>
            </a:solidFill>
            <a:prstDash val="solid"/>
          </a:ln>
        </p:spPr>
      </p:sp>
      <p:sp>
        <p:nvSpPr>
          <p:cNvPr id="15" name="Text 13"/>
          <p:cNvSpPr/>
          <p:nvPr/>
        </p:nvSpPr>
        <p:spPr>
          <a:xfrm>
            <a:off x="6638544" y="1741932"/>
            <a:ext cx="2414016" cy="256032"/>
          </a:xfrm>
          <a:prstGeom prst="rect">
            <a:avLst/>
          </a:prstGeom>
          <a:noFill/>
          <a:ln/>
        </p:spPr>
        <p:txBody>
          <a:bodyPr wrap="square" lIns="0" tIns="0" rIns="0" bIns="0" rtlCol="0" anchor="ctr"/>
          <a:lstStyle/>
          <a:p>
            <a:pPr marL="0" indent="0">
              <a:buNone/>
            </a:pPr>
            <a:r>
              <a:rPr lang="en-US" sz="2000" b="1" dirty="0">
                <a:solidFill>
                  <a:srgbClr val="123B63"/>
                </a:solidFill>
              </a:rPr>
              <a:t>Low-cost design</a:t>
            </a:r>
            <a:endParaRPr lang="en-US" sz="2000" dirty="0"/>
          </a:p>
        </p:txBody>
      </p:sp>
      <p:sp>
        <p:nvSpPr>
          <p:cNvPr id="16" name="Text 14"/>
          <p:cNvSpPr/>
          <p:nvPr/>
        </p:nvSpPr>
        <p:spPr>
          <a:xfrm>
            <a:off x="6638544" y="2167128"/>
            <a:ext cx="2414016" cy="1124712"/>
          </a:xfrm>
          <a:prstGeom prst="rect">
            <a:avLst/>
          </a:prstGeom>
          <a:noFill/>
          <a:ln/>
        </p:spPr>
        <p:txBody>
          <a:bodyPr wrap="square" lIns="0" tIns="0" rIns="0" bIns="0" rtlCol="0" anchor="t">
            <a:normAutofit/>
          </a:bodyPr>
          <a:lstStyle/>
          <a:p>
            <a:pPr marL="0" indent="0">
              <a:buNone/>
            </a:pPr>
            <a:r>
              <a:rPr lang="en-US" sz="1600" dirty="0">
                <a:solidFill>
                  <a:srgbClr val="425B71"/>
                </a:solidFill>
              </a:rPr>
              <a:t>Uses common IoT parts, making the system suitable for a student project or prototype.</a:t>
            </a:r>
            <a:endParaRPr lang="en-US" sz="1600" dirty="0"/>
          </a:p>
        </p:txBody>
      </p:sp>
      <p:sp>
        <p:nvSpPr>
          <p:cNvPr id="17" name="Shape 15"/>
          <p:cNvSpPr/>
          <p:nvPr/>
        </p:nvSpPr>
        <p:spPr>
          <a:xfrm>
            <a:off x="9381744" y="1581912"/>
            <a:ext cx="2148840" cy="1828800"/>
          </a:xfrm>
          <a:prstGeom prst="roundRect">
            <a:avLst>
              <a:gd name="adj" fmla="val 6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8" name="Shape 16"/>
          <p:cNvSpPr/>
          <p:nvPr/>
        </p:nvSpPr>
        <p:spPr>
          <a:xfrm>
            <a:off x="9381744" y="1554480"/>
            <a:ext cx="2148840" cy="109728"/>
          </a:xfrm>
          <a:prstGeom prst="rect">
            <a:avLst/>
          </a:prstGeom>
          <a:solidFill>
            <a:srgbClr val="2A9D8F"/>
          </a:solidFill>
          <a:ln w="12700">
            <a:solidFill>
              <a:srgbClr val="2A9D8F"/>
            </a:solidFill>
            <a:prstDash val="solid"/>
          </a:ln>
        </p:spPr>
      </p:sp>
      <p:sp>
        <p:nvSpPr>
          <p:cNvPr id="19" name="Text 17"/>
          <p:cNvSpPr/>
          <p:nvPr/>
        </p:nvSpPr>
        <p:spPr>
          <a:xfrm>
            <a:off x="9546336" y="1757332"/>
            <a:ext cx="1819656" cy="256032"/>
          </a:xfrm>
          <a:prstGeom prst="rect">
            <a:avLst/>
          </a:prstGeom>
          <a:noFill/>
          <a:ln/>
        </p:spPr>
        <p:txBody>
          <a:bodyPr wrap="square" lIns="0" tIns="0" rIns="0" bIns="0" rtlCol="0" anchor="ctr"/>
          <a:lstStyle/>
          <a:p>
            <a:pPr marL="0" indent="0">
              <a:buNone/>
            </a:pPr>
            <a:r>
              <a:rPr lang="en-US" sz="2000" b="1" dirty="0">
                <a:solidFill>
                  <a:srgbClr val="123B63"/>
                </a:solidFill>
              </a:rPr>
              <a:t>Cloud ready</a:t>
            </a:r>
            <a:endParaRPr lang="en-US" sz="2000" dirty="0"/>
          </a:p>
        </p:txBody>
      </p:sp>
      <p:sp>
        <p:nvSpPr>
          <p:cNvPr id="20" name="Text 18"/>
          <p:cNvSpPr/>
          <p:nvPr/>
        </p:nvSpPr>
        <p:spPr>
          <a:xfrm>
            <a:off x="9546336" y="2167128"/>
            <a:ext cx="1819656" cy="1124712"/>
          </a:xfrm>
          <a:prstGeom prst="rect">
            <a:avLst/>
          </a:prstGeom>
          <a:noFill/>
          <a:ln/>
        </p:spPr>
        <p:txBody>
          <a:bodyPr wrap="square" lIns="0" tIns="0" rIns="0" bIns="0" rtlCol="0" anchor="t">
            <a:normAutofit/>
          </a:bodyPr>
          <a:lstStyle/>
          <a:p>
            <a:pPr marL="0" indent="0">
              <a:buNone/>
            </a:pPr>
            <a:r>
              <a:rPr lang="en-US" sz="1600" dirty="0">
                <a:solidFill>
                  <a:srgbClr val="425B71"/>
                </a:solidFill>
              </a:rPr>
              <a:t>Data can be stored and analyzed later from the IoT platform.</a:t>
            </a:r>
            <a:endParaRPr lang="en-US" sz="1600" dirty="0"/>
          </a:p>
        </p:txBody>
      </p:sp>
      <p:sp>
        <p:nvSpPr>
          <p:cNvPr id="21" name="Shape 19"/>
          <p:cNvSpPr/>
          <p:nvPr/>
        </p:nvSpPr>
        <p:spPr>
          <a:xfrm>
            <a:off x="868680" y="3794760"/>
            <a:ext cx="10424160" cy="1737360"/>
          </a:xfrm>
          <a:prstGeom prst="roundRect">
            <a:avLst>
              <a:gd name="adj" fmla="val 6316"/>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2" name="Shape 20"/>
          <p:cNvSpPr/>
          <p:nvPr/>
        </p:nvSpPr>
        <p:spPr>
          <a:xfrm>
            <a:off x="868680" y="3794760"/>
            <a:ext cx="10424160" cy="109728"/>
          </a:xfrm>
          <a:prstGeom prst="rect">
            <a:avLst/>
          </a:prstGeom>
          <a:solidFill>
            <a:srgbClr val="0F4C81"/>
          </a:solidFill>
          <a:ln w="12700">
            <a:solidFill>
              <a:srgbClr val="0F4C81"/>
            </a:solidFill>
            <a:prstDash val="solid"/>
          </a:ln>
        </p:spPr>
      </p:sp>
      <p:sp>
        <p:nvSpPr>
          <p:cNvPr id="23" name="Text 21"/>
          <p:cNvSpPr/>
          <p:nvPr/>
        </p:nvSpPr>
        <p:spPr>
          <a:xfrm>
            <a:off x="1033272" y="3959352"/>
            <a:ext cx="10094976" cy="256032"/>
          </a:xfrm>
          <a:prstGeom prst="rect">
            <a:avLst/>
          </a:prstGeom>
          <a:noFill/>
          <a:ln/>
        </p:spPr>
        <p:txBody>
          <a:bodyPr wrap="square" lIns="0" tIns="0" rIns="0" bIns="0" rtlCol="0" anchor="ctr"/>
          <a:lstStyle/>
          <a:p>
            <a:pPr marL="0" indent="0">
              <a:buNone/>
            </a:pPr>
            <a:r>
              <a:rPr lang="en-US" sz="2000" b="1" dirty="0">
                <a:solidFill>
                  <a:srgbClr val="123B63"/>
                </a:solidFill>
              </a:rPr>
              <a:t>Simple conclusion from the model</a:t>
            </a:r>
            <a:endParaRPr lang="en-US" sz="2000" dirty="0"/>
          </a:p>
        </p:txBody>
      </p:sp>
      <p:sp>
        <p:nvSpPr>
          <p:cNvPr id="24" name="Text 22"/>
          <p:cNvSpPr/>
          <p:nvPr/>
        </p:nvSpPr>
        <p:spPr>
          <a:xfrm>
            <a:off x="1033272" y="4270248"/>
            <a:ext cx="10094976" cy="1170432"/>
          </a:xfrm>
          <a:prstGeom prst="rect">
            <a:avLst/>
          </a:prstGeom>
          <a:noFill/>
          <a:ln/>
        </p:spPr>
        <p:txBody>
          <a:bodyPr wrap="square" lIns="0" tIns="0" rIns="0" bIns="0" rtlCol="0" anchor="t">
            <a:normAutofit/>
          </a:bodyPr>
          <a:lstStyle/>
          <a:p>
            <a:pPr marL="0" indent="0">
              <a:buNone/>
            </a:pPr>
            <a:r>
              <a:rPr lang="en-US" sz="1600" dirty="0">
                <a:solidFill>
                  <a:srgbClr val="425B71"/>
                </a:solidFill>
              </a:rPr>
              <a:t>The model does not diagnose disease directly. It checks whether the current readings look unusual compared to the pattern learned from past data. That makes it a good fit for anomaly detection in health monitoring.</a:t>
            </a:r>
            <a:endParaRPr lang="en-US" sz="1600" dirty="0"/>
          </a:p>
        </p:txBody>
      </p:sp>
      <p:sp>
        <p:nvSpPr>
          <p:cNvPr id="25" name="Shape 23"/>
          <p:cNvSpPr/>
          <p:nvPr/>
        </p:nvSpPr>
        <p:spPr>
          <a:xfrm>
            <a:off x="868680" y="5669280"/>
            <a:ext cx="10424160" cy="731520"/>
          </a:xfrm>
          <a:prstGeom prst="roundRect">
            <a:avLst>
              <a:gd name="adj" fmla="val 15000"/>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26" name="Shape 24"/>
          <p:cNvSpPr/>
          <p:nvPr/>
        </p:nvSpPr>
        <p:spPr>
          <a:xfrm>
            <a:off x="868680" y="5669280"/>
            <a:ext cx="10424160" cy="109728"/>
          </a:xfrm>
          <a:prstGeom prst="rect">
            <a:avLst/>
          </a:prstGeom>
          <a:solidFill>
            <a:srgbClr val="5D8AA8"/>
          </a:solidFill>
          <a:ln w="12700">
            <a:solidFill>
              <a:srgbClr val="5D8AA8"/>
            </a:solidFill>
            <a:prstDash val="solid"/>
          </a:ln>
        </p:spPr>
      </p:sp>
      <p:sp>
        <p:nvSpPr>
          <p:cNvPr id="27" name="Text 25"/>
          <p:cNvSpPr/>
          <p:nvPr/>
        </p:nvSpPr>
        <p:spPr>
          <a:xfrm>
            <a:off x="1033272" y="5833872"/>
            <a:ext cx="10094976" cy="256032"/>
          </a:xfrm>
          <a:prstGeom prst="rect">
            <a:avLst/>
          </a:prstGeom>
          <a:noFill/>
          <a:ln/>
        </p:spPr>
        <p:txBody>
          <a:bodyPr wrap="square" lIns="0" tIns="0" rIns="0" bIns="0" rtlCol="0" anchor="ctr"/>
          <a:lstStyle/>
          <a:p>
            <a:pPr marL="0" indent="0">
              <a:buNone/>
            </a:pPr>
            <a:r>
              <a:rPr lang="en-US" sz="2000" b="1" dirty="0">
                <a:solidFill>
                  <a:srgbClr val="123B63"/>
                </a:solidFill>
              </a:rPr>
              <a:t>Best use case</a:t>
            </a:r>
            <a:endParaRPr lang="en-US" sz="2000" dirty="0"/>
          </a:p>
        </p:txBody>
      </p:sp>
      <p:sp>
        <p:nvSpPr>
          <p:cNvPr id="28" name="Text 26"/>
          <p:cNvSpPr/>
          <p:nvPr/>
        </p:nvSpPr>
        <p:spPr>
          <a:xfrm>
            <a:off x="1033272" y="6144768"/>
            <a:ext cx="10094976" cy="164592"/>
          </a:xfrm>
          <a:prstGeom prst="rect">
            <a:avLst/>
          </a:prstGeom>
          <a:noFill/>
          <a:ln/>
        </p:spPr>
        <p:txBody>
          <a:bodyPr wrap="square" lIns="0" tIns="0" rIns="0" bIns="0" rtlCol="0" anchor="t">
            <a:noAutofit/>
          </a:bodyPr>
          <a:lstStyle/>
          <a:p>
            <a:pPr marL="0" indent="0">
              <a:buNone/>
            </a:pPr>
            <a:r>
              <a:rPr lang="en-US" sz="1600" dirty="0">
                <a:solidFill>
                  <a:srgbClr val="425B71"/>
                </a:solidFill>
              </a:rPr>
              <a:t>Continuous observation, trend tracking, and quick detection of potentially risky readings.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10698480" cy="411480"/>
          </a:xfrm>
          <a:prstGeom prst="rect">
            <a:avLst/>
          </a:prstGeom>
          <a:noFill/>
          <a:ln/>
        </p:spPr>
        <p:txBody>
          <a:bodyPr wrap="square" lIns="0" tIns="0" rIns="0" bIns="0" rtlCol="0" anchor="ctr"/>
          <a:lstStyle/>
          <a:p>
            <a:pPr marL="0" indent="0">
              <a:buNone/>
            </a:pPr>
            <a:r>
              <a:rPr lang="en-US" sz="3200" b="1" dirty="0">
                <a:solidFill>
                  <a:srgbClr val="123B63"/>
                </a:solidFill>
                <a:latin typeface="Aptos Display" pitchFamily="34" charset="0"/>
                <a:ea typeface="Aptos Display" pitchFamily="34" charset="-122"/>
                <a:cs typeface="Aptos Display" pitchFamily="34" charset="-120"/>
              </a:rPr>
              <a:t>Conclusion and Future Scope</a:t>
            </a:r>
            <a:endParaRPr lang="en-US" sz="3200" dirty="0"/>
          </a:p>
        </p:txBody>
      </p:sp>
      <p:sp>
        <p:nvSpPr>
          <p:cNvPr id="3" name="Text 1"/>
          <p:cNvSpPr/>
          <p:nvPr/>
        </p:nvSpPr>
        <p:spPr>
          <a:xfrm>
            <a:off x="548640" y="914400"/>
            <a:ext cx="10698480" cy="256032"/>
          </a:xfrm>
          <a:prstGeom prst="rect">
            <a:avLst/>
          </a:prstGeom>
          <a:noFill/>
          <a:ln/>
        </p:spPr>
        <p:txBody>
          <a:bodyPr wrap="square" lIns="0" tIns="0" rIns="0" bIns="0" rtlCol="0" anchor="ctr"/>
          <a:lstStyle/>
          <a:p>
            <a:pPr marL="0" indent="0">
              <a:buNone/>
            </a:pPr>
            <a:r>
              <a:rPr lang="en-US" sz="2000" dirty="0">
                <a:solidFill>
                  <a:srgbClr val="4D647A"/>
                </a:solidFill>
              </a:rPr>
              <a:t>Final message for your presentation</a:t>
            </a:r>
            <a:endParaRPr lang="en-US" sz="2000" dirty="0"/>
          </a:p>
        </p:txBody>
      </p:sp>
      <p:sp>
        <p:nvSpPr>
          <p:cNvPr id="4" name="Shape 2"/>
          <p:cNvSpPr/>
          <p:nvPr/>
        </p:nvSpPr>
        <p:spPr>
          <a:xfrm>
            <a:off x="548640" y="1170432"/>
            <a:ext cx="11064240" cy="0"/>
          </a:xfrm>
          <a:prstGeom prst="line">
            <a:avLst/>
          </a:prstGeom>
          <a:noFill/>
          <a:ln w="12700">
            <a:solidFill>
              <a:srgbClr val="D6E1EA"/>
            </a:solidFill>
            <a:prstDash val="solid"/>
          </a:ln>
        </p:spPr>
      </p:sp>
      <p:sp>
        <p:nvSpPr>
          <p:cNvPr id="5" name="Shape 3"/>
          <p:cNvSpPr/>
          <p:nvPr/>
        </p:nvSpPr>
        <p:spPr>
          <a:xfrm>
            <a:off x="658368" y="1600200"/>
            <a:ext cx="5394960" cy="4526280"/>
          </a:xfrm>
          <a:prstGeom prst="roundRect">
            <a:avLst>
              <a:gd name="adj" fmla="val 2424"/>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6" name="Shape 4"/>
          <p:cNvSpPr/>
          <p:nvPr/>
        </p:nvSpPr>
        <p:spPr>
          <a:xfrm>
            <a:off x="658368" y="1600200"/>
            <a:ext cx="5394960" cy="109728"/>
          </a:xfrm>
          <a:prstGeom prst="rect">
            <a:avLst/>
          </a:prstGeom>
          <a:solidFill>
            <a:srgbClr val="0F4C81"/>
          </a:solidFill>
          <a:ln w="12700">
            <a:solidFill>
              <a:srgbClr val="0F4C81"/>
            </a:solidFill>
            <a:prstDash val="solid"/>
          </a:ln>
        </p:spPr>
      </p:sp>
      <p:sp>
        <p:nvSpPr>
          <p:cNvPr id="7" name="Text 5"/>
          <p:cNvSpPr/>
          <p:nvPr/>
        </p:nvSpPr>
        <p:spPr>
          <a:xfrm>
            <a:off x="822960" y="1764791"/>
            <a:ext cx="5065776" cy="374903"/>
          </a:xfrm>
          <a:prstGeom prst="rect">
            <a:avLst/>
          </a:prstGeom>
          <a:noFill/>
          <a:ln/>
        </p:spPr>
        <p:txBody>
          <a:bodyPr wrap="square" lIns="0" tIns="0" rIns="0" bIns="0" rtlCol="0" anchor="ctr"/>
          <a:lstStyle/>
          <a:p>
            <a:pPr marL="0" indent="0">
              <a:buNone/>
            </a:pPr>
            <a:r>
              <a:rPr lang="en-US" sz="2400" b="1" dirty="0">
                <a:solidFill>
                  <a:srgbClr val="123B63"/>
                </a:solidFill>
              </a:rPr>
              <a:t>Conclusion</a:t>
            </a:r>
            <a:endParaRPr lang="en-US" sz="2400" dirty="0"/>
          </a:p>
        </p:txBody>
      </p:sp>
      <p:sp>
        <p:nvSpPr>
          <p:cNvPr id="8" name="Text 6"/>
          <p:cNvSpPr/>
          <p:nvPr/>
        </p:nvSpPr>
        <p:spPr>
          <a:xfrm>
            <a:off x="822960" y="2368294"/>
            <a:ext cx="5065776" cy="3666746"/>
          </a:xfrm>
          <a:prstGeom prst="rect">
            <a:avLst/>
          </a:prstGeom>
          <a:noFill/>
          <a:ln/>
        </p:spPr>
        <p:txBody>
          <a:bodyPr wrap="square" lIns="0" tIns="0" rIns="0" bIns="0" rtlCol="0" anchor="t">
            <a:normAutofit/>
          </a:bodyPr>
          <a:lstStyle/>
          <a:p>
            <a:pPr marL="0" indent="0">
              <a:buNone/>
            </a:pPr>
            <a:r>
              <a:rPr lang="en-US" sz="2000" dirty="0">
                <a:solidFill>
                  <a:srgbClr val="425B71"/>
                </a:solidFill>
              </a:rPr>
              <a:t>This project combines IoT hardware, cloud storage, and unsupervised machine learning to create a useful health monitoring system. It is practical, easy to explain, and gives both immediate alerts and long-term analysis.</a:t>
            </a:r>
            <a:endParaRPr lang="en-US" sz="2000" dirty="0"/>
          </a:p>
        </p:txBody>
      </p:sp>
      <p:sp>
        <p:nvSpPr>
          <p:cNvPr id="9" name="Shape 7"/>
          <p:cNvSpPr/>
          <p:nvPr/>
        </p:nvSpPr>
        <p:spPr>
          <a:xfrm>
            <a:off x="6236208" y="1600200"/>
            <a:ext cx="5303520" cy="2057400"/>
          </a:xfrm>
          <a:prstGeom prst="roundRect">
            <a:avLst>
              <a:gd name="adj" fmla="val 5333"/>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0" name="Shape 8"/>
          <p:cNvSpPr/>
          <p:nvPr/>
        </p:nvSpPr>
        <p:spPr>
          <a:xfrm>
            <a:off x="6236208" y="1600200"/>
            <a:ext cx="5303520" cy="109728"/>
          </a:xfrm>
          <a:prstGeom prst="rect">
            <a:avLst/>
          </a:prstGeom>
          <a:solidFill>
            <a:srgbClr val="1D7A8C"/>
          </a:solidFill>
          <a:ln w="12700">
            <a:solidFill>
              <a:srgbClr val="1D7A8C"/>
            </a:solidFill>
            <a:prstDash val="solid"/>
          </a:ln>
        </p:spPr>
      </p:sp>
      <p:sp>
        <p:nvSpPr>
          <p:cNvPr id="11" name="Text 9"/>
          <p:cNvSpPr/>
          <p:nvPr/>
        </p:nvSpPr>
        <p:spPr>
          <a:xfrm>
            <a:off x="6400800" y="1764792"/>
            <a:ext cx="4974336" cy="256032"/>
          </a:xfrm>
          <a:prstGeom prst="rect">
            <a:avLst/>
          </a:prstGeom>
          <a:noFill/>
          <a:ln/>
        </p:spPr>
        <p:txBody>
          <a:bodyPr wrap="square" lIns="0" tIns="0" rIns="0" bIns="0" rtlCol="0" anchor="ctr"/>
          <a:lstStyle/>
          <a:p>
            <a:pPr marL="0" indent="0">
              <a:buNone/>
            </a:pPr>
            <a:r>
              <a:rPr lang="en-US" sz="2400" b="1" dirty="0">
                <a:solidFill>
                  <a:srgbClr val="123B63"/>
                </a:solidFill>
              </a:rPr>
              <a:t>Future improvements</a:t>
            </a:r>
            <a:endParaRPr lang="en-US" sz="2400" dirty="0"/>
          </a:p>
        </p:txBody>
      </p:sp>
      <p:sp>
        <p:nvSpPr>
          <p:cNvPr id="12" name="Text 10"/>
          <p:cNvSpPr/>
          <p:nvPr/>
        </p:nvSpPr>
        <p:spPr>
          <a:xfrm>
            <a:off x="6400800" y="2368294"/>
            <a:ext cx="4974336" cy="1197866"/>
          </a:xfrm>
          <a:prstGeom prst="rect">
            <a:avLst/>
          </a:prstGeom>
          <a:noFill/>
          <a:ln/>
        </p:spPr>
        <p:txBody>
          <a:bodyPr wrap="square" lIns="0" tIns="0" rIns="0" bIns="0" rtlCol="0" anchor="t">
            <a:noAutofit/>
          </a:bodyPr>
          <a:lstStyle/>
          <a:p>
            <a:pPr marL="0" indent="0">
              <a:buNone/>
            </a:pPr>
            <a:r>
              <a:rPr lang="en-US" sz="2000" dirty="0">
                <a:solidFill>
                  <a:srgbClr val="425B71"/>
                </a:solidFill>
              </a:rPr>
              <a:t>Add more sensors, create automatic alert thresholds, improve the dashboard visuals, and test with more real-world data for better accuracy.</a:t>
            </a:r>
            <a:endParaRPr lang="en-US" sz="2000" dirty="0"/>
          </a:p>
        </p:txBody>
      </p:sp>
      <p:sp>
        <p:nvSpPr>
          <p:cNvPr id="13" name="Shape 11"/>
          <p:cNvSpPr/>
          <p:nvPr/>
        </p:nvSpPr>
        <p:spPr>
          <a:xfrm>
            <a:off x="6236208" y="3886200"/>
            <a:ext cx="5303520" cy="2240280"/>
          </a:xfrm>
          <a:prstGeom prst="roundRect">
            <a:avLst>
              <a:gd name="adj" fmla="val 4898"/>
            </a:avLst>
          </a:prstGeom>
          <a:solidFill>
            <a:srgbClr val="FFFFFF"/>
          </a:solidFill>
          <a:ln w="12700">
            <a:solidFill>
              <a:srgbClr val="D9E4EE"/>
            </a:solidFill>
            <a:prstDash val="solid"/>
          </a:ln>
          <a:effectLst>
            <a:outerShdw blurRad="12700" dist="50800" dir="2700000" algn="bl" rotWithShape="0">
              <a:srgbClr val="BAC7D4">
                <a:alpha val="12000"/>
              </a:srgbClr>
            </a:outerShdw>
          </a:effectLst>
        </p:spPr>
      </p:sp>
      <p:sp>
        <p:nvSpPr>
          <p:cNvPr id="14" name="Shape 12"/>
          <p:cNvSpPr/>
          <p:nvPr/>
        </p:nvSpPr>
        <p:spPr>
          <a:xfrm>
            <a:off x="6236208" y="3886200"/>
            <a:ext cx="5303520" cy="109728"/>
          </a:xfrm>
          <a:prstGeom prst="rect">
            <a:avLst/>
          </a:prstGeom>
          <a:solidFill>
            <a:srgbClr val="2A9D8F"/>
          </a:solidFill>
          <a:ln w="12700">
            <a:solidFill>
              <a:srgbClr val="2A9D8F"/>
            </a:solidFill>
            <a:prstDash val="solid"/>
          </a:ln>
        </p:spPr>
      </p:sp>
      <p:sp>
        <p:nvSpPr>
          <p:cNvPr id="15" name="Text 13"/>
          <p:cNvSpPr/>
          <p:nvPr/>
        </p:nvSpPr>
        <p:spPr>
          <a:xfrm>
            <a:off x="6400800" y="4050792"/>
            <a:ext cx="4974336" cy="256032"/>
          </a:xfrm>
          <a:prstGeom prst="rect">
            <a:avLst/>
          </a:prstGeom>
          <a:noFill/>
          <a:ln/>
        </p:spPr>
        <p:txBody>
          <a:bodyPr wrap="square" lIns="0" tIns="0" rIns="0" bIns="0" rtlCol="0" anchor="ctr"/>
          <a:lstStyle/>
          <a:p>
            <a:pPr marL="0" indent="0">
              <a:buNone/>
            </a:pPr>
            <a:r>
              <a:rPr lang="en-US" sz="2400" b="1" dirty="0">
                <a:solidFill>
                  <a:srgbClr val="123B63"/>
                </a:solidFill>
              </a:rPr>
              <a:t>Possible extensions</a:t>
            </a:r>
            <a:endParaRPr lang="en-US" sz="2400" dirty="0"/>
          </a:p>
        </p:txBody>
      </p:sp>
      <p:sp>
        <p:nvSpPr>
          <p:cNvPr id="16" name="Text 14"/>
          <p:cNvSpPr/>
          <p:nvPr/>
        </p:nvSpPr>
        <p:spPr>
          <a:xfrm>
            <a:off x="6400800" y="4535424"/>
            <a:ext cx="4974336" cy="1499616"/>
          </a:xfrm>
          <a:prstGeom prst="rect">
            <a:avLst/>
          </a:prstGeom>
          <a:noFill/>
          <a:ln/>
        </p:spPr>
        <p:txBody>
          <a:bodyPr wrap="square" lIns="0" tIns="0" rIns="0" bIns="0" rtlCol="0" anchor="t">
            <a:normAutofit/>
          </a:bodyPr>
          <a:lstStyle/>
          <a:p>
            <a:pPr marL="0" indent="0">
              <a:buNone/>
            </a:pPr>
            <a:r>
              <a:rPr lang="en-US" sz="2000" dirty="0">
                <a:solidFill>
                  <a:srgbClr val="425B71"/>
                </a:solidFill>
              </a:rPr>
              <a:t>Mobile app integration, ECG support, emergency contact alerts, and a smarter anomaly scoring system can make the project stronger.</a:t>
            </a:r>
            <a:endParaRPr lang="en-US" sz="2000" dirty="0"/>
          </a:p>
        </p:txBody>
      </p:sp>
      <p:sp>
        <p:nvSpPr>
          <p:cNvPr id="17" name="Text 15"/>
          <p:cNvSpPr/>
          <p:nvPr/>
        </p:nvSpPr>
        <p:spPr>
          <a:xfrm>
            <a:off x="0" y="6355080"/>
            <a:ext cx="12191695" cy="182880"/>
          </a:xfrm>
          <a:prstGeom prst="rect">
            <a:avLst/>
          </a:prstGeom>
          <a:noFill/>
          <a:ln/>
        </p:spPr>
        <p:txBody>
          <a:bodyPr wrap="square" lIns="0" tIns="0" rIns="0" bIns="0" rtlCol="0" anchor="ctr"/>
          <a:lstStyle/>
          <a:p>
            <a:pPr marL="0" indent="0" algn="ctr">
              <a:buNone/>
            </a:pPr>
            <a:r>
              <a:rPr lang="en-US" sz="4400" b="1" dirty="0">
                <a:solidFill>
                  <a:srgbClr val="5B6B7A"/>
                </a:solidFill>
              </a:rPr>
              <a:t>Thank you</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940</Words>
  <Application>Microsoft Office PowerPoint</Application>
  <PresentationFormat>Widescreen</PresentationFormat>
  <Paragraphs>116</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Health Monitoring and Anomaly Detection System</dc:title>
  <dc:subject>IoT Health Monitoring and Anomaly Detection</dc:subject>
  <dc:creator>OpenAI</dc:creator>
  <cp:lastModifiedBy>Aqib Ali</cp:lastModifiedBy>
  <cp:revision>2</cp:revision>
  <dcterms:created xsi:type="dcterms:W3CDTF">2026-05-05T19:26:04Z</dcterms:created>
  <dcterms:modified xsi:type="dcterms:W3CDTF">2026-05-05T19:56:17Z</dcterms:modified>
</cp:coreProperties>
</file>